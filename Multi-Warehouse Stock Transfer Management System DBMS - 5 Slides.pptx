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[morning/afternoon]. Today I will present the design and implementation of a database management system for a multi-warehouse stock transfer management system — how a centralized database lets organizations track, approve, and reconcile stock movements between warehouse locations in real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lays out the problem statement on the left and our objectives on the right. Organizations running multiple warehouses must move stock between locations to meet demand and avoid stockouts, but spreadsheets and disconnected systems cannot keep pace with concurrent transfers, approvals, and audits. That results in four concrete problems: delayed visibility into stock counts, manual reconciliation of paper logs, data inconsistency across systems, and stockouts or overstock from poor visibility. Our objectives directly answer these: a centralized data store shared by every warehouse, real-time stock visibility, a controlled request-approval-dispatch-receipt workflow with an audit trail, and strong data integrity and security through transactions and role-based access.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left is our three-tier architecture: a presentation layer of web and desktop clients, an application layer holding the business logic and REST APIs, and a database layer that is the single central store for warehouses, products, and stock. On the right is the core of the database design: WAREHOUSE, PRODUCT, STOCK, and USER entities all connect through the central STOCK_TRANSFER table, which records the source and destination warehouse, product, quantity, and status for every movement.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shows the full transfer process: a request is raised, a manager approves it, the source warehouse dispatches the stock, it is tracked while in transit, and the destination confirms receipt, which updates both warehouses stock levels. Every step is a database transaction, so quantities never fall out of sync. Underneath, the technology stack: MySQL or Oracle for the database engine, Java or Python REST APIs for the backend, web and desktop clients for users, barcode scanning to reduce entry errors at dispatch and receipt, and role-based access control to separate requesters, approvers, and admins.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close — the key benefits are a single consistent view of stock across every warehouse, faster auditable approvals, fewer stockouts, and reliable data for demand planning. Looking ahead, this could be extended with RFID or barcode integration for automatic capture, a mobile app for floor-level approvals, predictive analytics to forecast inter-warehouse demand, and cloud deployment for multi-region scale.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93D"/>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C3550"/>
          </a:solidFill>
          <a:ln/>
        </p:spPr>
      </p:sp>
      <p:sp>
        <p:nvSpPr>
          <p:cNvPr id="3" name="Shape 1"/>
          <p:cNvSpPr/>
          <p:nvPr/>
        </p:nvSpPr>
        <p:spPr>
          <a:xfrm>
            <a:off x="-1463040" y="4846320"/>
            <a:ext cx="3840480" cy="3840480"/>
          </a:xfrm>
          <a:prstGeom prst="ellipse">
            <a:avLst/>
          </a:prstGeom>
          <a:solidFill>
            <a:srgbClr val="1C3550"/>
          </a:solidFill>
          <a:ln/>
        </p:spPr>
      </p:sp>
      <p:sp>
        <p:nvSpPr>
          <p:cNvPr id="4" name="Shape 2"/>
          <p:cNvSpPr/>
          <p:nvPr/>
        </p:nvSpPr>
        <p:spPr>
          <a:xfrm>
            <a:off x="822960" y="685800"/>
            <a:ext cx="777240" cy="777240"/>
          </a:xfrm>
          <a:prstGeom prst="ellipse">
            <a:avLst/>
          </a:prstGeom>
          <a:solidFill>
            <a:srgbClr val="1F3F5C"/>
          </a:solidFill>
          <a:ln/>
        </p:spPr>
      </p:sp>
      <p:pic>
        <p:nvPicPr>
          <p:cNvPr id="5" name="Image 0" descr="/home/claude/icons/database_orange.png">    </p:cNvPr>
          <p:cNvPicPr>
            <a:picLocks noChangeAspect="1"/>
          </p:cNvPicPr>
          <p:nvPr/>
        </p:nvPicPr>
        <p:blipFill>
          <a:blip r:embed="rId1"/>
          <a:stretch>
            <a:fillRect/>
          </a:stretch>
        </p:blipFill>
        <p:spPr>
          <a:xfrm>
            <a:off x="1009498" y="872338"/>
            <a:ext cx="404165" cy="404165"/>
          </a:xfrm>
          <a:prstGeom prst="rect">
            <a:avLst/>
          </a:prstGeom>
        </p:spPr>
      </p:pic>
      <p:sp>
        <p:nvSpPr>
          <p:cNvPr id="6" name="Text 3"/>
          <p:cNvSpPr/>
          <p:nvPr/>
        </p:nvSpPr>
        <p:spPr>
          <a:xfrm>
            <a:off x="822960" y="1691640"/>
            <a:ext cx="7315200" cy="365760"/>
          </a:xfrm>
          <a:prstGeom prst="rect">
            <a:avLst/>
          </a:prstGeom>
          <a:noFill/>
          <a:ln/>
        </p:spPr>
        <p:txBody>
          <a:bodyPr wrap="square" rtlCol="0" anchor="ctr"/>
          <a:lstStyle/>
          <a:p>
            <a:pPr indent="0" marL="0">
              <a:buNone/>
            </a:pPr>
            <a:r>
              <a:rPr lang="en-US" sz="1300" b="1" spc="300" kern="0" dirty="0">
                <a:solidFill>
                  <a:srgbClr val="1B7A8C"/>
                </a:solidFill>
                <a:latin typeface="Calibri" pitchFamily="34" charset="0"/>
                <a:ea typeface="Calibri" pitchFamily="34" charset="-122"/>
                <a:cs typeface="Calibri" pitchFamily="34" charset="-120"/>
              </a:rPr>
              <a:t>DATABASE SYSTEMS PROJECT</a:t>
            </a:r>
            <a:endParaRPr lang="en-US" sz="1300" dirty="0"/>
          </a:p>
        </p:txBody>
      </p:sp>
      <p:sp>
        <p:nvSpPr>
          <p:cNvPr id="7" name="Text 4"/>
          <p:cNvSpPr/>
          <p:nvPr/>
        </p:nvSpPr>
        <p:spPr>
          <a:xfrm>
            <a:off x="822960" y="2148840"/>
            <a:ext cx="10241280" cy="2377440"/>
          </a:xfrm>
          <a:prstGeom prst="rect">
            <a:avLst/>
          </a:prstGeom>
          <a:noFill/>
          <a:ln/>
        </p:spPr>
        <p:txBody>
          <a:bodyPr wrap="square" rtlCol="0" anchor="ctr"/>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Design and Implementation of a Database</a:t>
            </a:r>
            <a:endParaRPr lang="en-US" sz="3800" dirty="0"/>
          </a:p>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Management System for Multi-Warehouse</a:t>
            </a:r>
            <a:endParaRPr lang="en-US" sz="3800" dirty="0"/>
          </a:p>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Stock Transfer Management</a:t>
            </a:r>
            <a:endParaRPr lang="en-US" sz="3800" dirty="0"/>
          </a:p>
        </p:txBody>
      </p:sp>
      <p:sp>
        <p:nvSpPr>
          <p:cNvPr id="8" name="Text 5"/>
          <p:cNvSpPr/>
          <p:nvPr/>
        </p:nvSpPr>
        <p:spPr>
          <a:xfrm>
            <a:off x="822960" y="4663440"/>
            <a:ext cx="8595360" cy="822960"/>
          </a:xfrm>
          <a:prstGeom prst="rect">
            <a:avLst/>
          </a:prstGeom>
          <a:noFill/>
          <a:ln/>
        </p:spPr>
        <p:txBody>
          <a:bodyPr wrap="square" rtlCol="0" anchor="ctr"/>
          <a:lstStyle/>
          <a:p>
            <a:pPr indent="0" marL="0">
              <a:lnSpc>
                <a:spcPts val="2000"/>
              </a:lnSpc>
              <a:buNone/>
            </a:pPr>
            <a:r>
              <a:rPr lang="en-US" sz="1450" dirty="0">
                <a:solidFill>
                  <a:srgbClr val="C9D6E3"/>
                </a:solidFill>
                <a:latin typeface="Calibri" pitchFamily="34" charset="0"/>
                <a:ea typeface="Calibri" pitchFamily="34" charset="-122"/>
                <a:cs typeface="Calibri" pitchFamily="34" charset="-120"/>
              </a:rPr>
              <a:t>A centralized data architecture for tracking, approving, and reconciling stock movements across distributed warehouse locations in real time.</a:t>
            </a:r>
            <a:endParaRPr lang="en-US" sz="1450" dirty="0"/>
          </a:p>
        </p:txBody>
      </p:sp>
      <p:sp>
        <p:nvSpPr>
          <p:cNvPr id="9" name="Shape 6"/>
          <p:cNvSpPr/>
          <p:nvPr/>
        </p:nvSpPr>
        <p:spPr>
          <a:xfrm>
            <a:off x="822960" y="5806440"/>
            <a:ext cx="1463040" cy="384048"/>
          </a:xfrm>
          <a:prstGeom prst="roundRect">
            <a:avLst>
              <a:gd name="adj" fmla="val 19048"/>
            </a:avLst>
          </a:prstGeom>
          <a:solidFill>
            <a:srgbClr val="1F3F5C"/>
          </a:solidFill>
          <a:ln/>
        </p:spPr>
      </p:sp>
      <p:sp>
        <p:nvSpPr>
          <p:cNvPr id="10" name="Text 7"/>
          <p:cNvSpPr/>
          <p:nvPr/>
        </p:nvSpPr>
        <p:spPr>
          <a:xfrm>
            <a:off x="822960" y="5806440"/>
            <a:ext cx="1463040" cy="384048"/>
          </a:xfrm>
          <a:prstGeom prst="rect">
            <a:avLst/>
          </a:prstGeom>
          <a:noFill/>
          <a:ln/>
        </p:spPr>
        <p:txBody>
          <a:bodyPr wrap="square"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Warehousing</a:t>
            </a:r>
            <a:endParaRPr lang="en-US" sz="1100" dirty="0"/>
          </a:p>
        </p:txBody>
      </p:sp>
      <p:sp>
        <p:nvSpPr>
          <p:cNvPr id="11" name="Shape 8"/>
          <p:cNvSpPr/>
          <p:nvPr/>
        </p:nvSpPr>
        <p:spPr>
          <a:xfrm>
            <a:off x="2468880" y="5806440"/>
            <a:ext cx="2011680" cy="384048"/>
          </a:xfrm>
          <a:prstGeom prst="roundRect">
            <a:avLst>
              <a:gd name="adj" fmla="val 19048"/>
            </a:avLst>
          </a:prstGeom>
          <a:solidFill>
            <a:srgbClr val="1F3F5C"/>
          </a:solidFill>
          <a:ln/>
        </p:spPr>
      </p:sp>
      <p:sp>
        <p:nvSpPr>
          <p:cNvPr id="12" name="Text 9"/>
          <p:cNvSpPr/>
          <p:nvPr/>
        </p:nvSpPr>
        <p:spPr>
          <a:xfrm>
            <a:off x="2468880" y="5806440"/>
            <a:ext cx="2011680" cy="384048"/>
          </a:xfrm>
          <a:prstGeom prst="rect">
            <a:avLst/>
          </a:prstGeom>
          <a:noFill/>
          <a:ln/>
        </p:spPr>
        <p:txBody>
          <a:bodyPr wrap="square"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Inventory Control</a:t>
            </a:r>
            <a:endParaRPr lang="en-US" sz="1100" dirty="0"/>
          </a:p>
        </p:txBody>
      </p:sp>
      <p:sp>
        <p:nvSpPr>
          <p:cNvPr id="13" name="Shape 10"/>
          <p:cNvSpPr/>
          <p:nvPr/>
        </p:nvSpPr>
        <p:spPr>
          <a:xfrm>
            <a:off x="4663440" y="5806440"/>
            <a:ext cx="2286000" cy="384048"/>
          </a:xfrm>
          <a:prstGeom prst="roundRect">
            <a:avLst>
              <a:gd name="adj" fmla="val 19048"/>
            </a:avLst>
          </a:prstGeom>
          <a:solidFill>
            <a:srgbClr val="1F3F5C"/>
          </a:solidFill>
          <a:ln/>
        </p:spPr>
      </p:sp>
      <p:sp>
        <p:nvSpPr>
          <p:cNvPr id="14" name="Text 11"/>
          <p:cNvSpPr/>
          <p:nvPr/>
        </p:nvSpPr>
        <p:spPr>
          <a:xfrm>
            <a:off x="4663440" y="5806440"/>
            <a:ext cx="2286000" cy="384048"/>
          </a:xfrm>
          <a:prstGeom prst="rect">
            <a:avLst/>
          </a:prstGeom>
          <a:noFill/>
          <a:ln/>
        </p:spPr>
        <p:txBody>
          <a:bodyPr wrap="square"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Relational Databases</a:t>
            </a:r>
            <a:endParaRPr lang="en-US" sz="1100" dirty="0"/>
          </a:p>
        </p:txBody>
      </p:sp>
      <p:sp>
        <p:nvSpPr>
          <p:cNvPr id="15" name="Shape 12"/>
          <p:cNvSpPr/>
          <p:nvPr/>
        </p:nvSpPr>
        <p:spPr>
          <a:xfrm>
            <a:off x="7132320" y="5806440"/>
            <a:ext cx="1280160" cy="384048"/>
          </a:xfrm>
          <a:prstGeom prst="roundRect">
            <a:avLst>
              <a:gd name="adj" fmla="val 19048"/>
            </a:avLst>
          </a:prstGeom>
          <a:solidFill>
            <a:srgbClr val="1F3F5C"/>
          </a:solidFill>
          <a:ln/>
        </p:spPr>
      </p:sp>
      <p:sp>
        <p:nvSpPr>
          <p:cNvPr id="16" name="Text 13"/>
          <p:cNvSpPr/>
          <p:nvPr/>
        </p:nvSpPr>
        <p:spPr>
          <a:xfrm>
            <a:off x="7132320" y="5806440"/>
            <a:ext cx="1280160" cy="384048"/>
          </a:xfrm>
          <a:prstGeom prst="rect">
            <a:avLst/>
          </a:prstGeom>
          <a:noFill/>
          <a:ln/>
        </p:spPr>
        <p:txBody>
          <a:bodyPr wrap="square" rtlCol="0" anchor="ctr"/>
          <a:lstStyle/>
          <a:p>
            <a:pPr algn="ctr" indent="0" marL="0">
              <a:buNone/>
            </a:pPr>
            <a:r>
              <a:rPr lang="en-US" sz="1100" dirty="0">
                <a:solidFill>
                  <a:srgbClr val="E8EEF4"/>
                </a:solidFill>
                <a:latin typeface="Calibri" pitchFamily="34" charset="0"/>
                <a:ea typeface="Calibri" pitchFamily="34" charset="-122"/>
                <a:cs typeface="Calibri" pitchFamily="34" charset="-120"/>
              </a:rPr>
              <a:t>Logistics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1B7A8C"/>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9601200" cy="548640"/>
          </a:xfrm>
          <a:prstGeom prst="rect">
            <a:avLst/>
          </a:prstGeom>
          <a:noFill/>
          <a:ln/>
        </p:spPr>
        <p:txBody>
          <a:bodyPr wrap="square" rtlCol="0" anchor="ctr"/>
          <a:lstStyle/>
          <a:p>
            <a:pPr indent="0" marL="0">
              <a:buNone/>
            </a:pPr>
            <a:r>
              <a:rPr lang="en-US" sz="2500" b="1" dirty="0">
                <a:solidFill>
                  <a:srgbClr val="14293D"/>
                </a:solidFill>
                <a:latin typeface="Cambria" pitchFamily="34" charset="0"/>
                <a:ea typeface="Cambria" pitchFamily="34" charset="-122"/>
                <a:cs typeface="Cambria" pitchFamily="34" charset="-120"/>
              </a:rPr>
              <a:t>Problem Statement &amp; Objectives</a:t>
            </a:r>
            <a:endParaRPr lang="en-US" sz="2500" dirty="0"/>
          </a:p>
        </p:txBody>
      </p:sp>
      <p:sp>
        <p:nvSpPr>
          <p:cNvPr id="4" name="Shape 2"/>
          <p:cNvSpPr/>
          <p:nvPr/>
        </p:nvSpPr>
        <p:spPr>
          <a:xfrm>
            <a:off x="6035040" y="1417320"/>
            <a:ext cx="0" cy="4892040"/>
          </a:xfrm>
          <a:prstGeom prst="line">
            <a:avLst/>
          </a:prstGeom>
          <a:noFill/>
          <a:ln w="15875">
            <a:solidFill>
              <a:srgbClr val="E2E8ED"/>
            </a:solidFill>
            <a:prstDash val="solid"/>
          </a:ln>
        </p:spPr>
      </p:sp>
      <p:sp>
        <p:nvSpPr>
          <p:cNvPr id="5" name="Text 3"/>
          <p:cNvSpPr/>
          <p:nvPr/>
        </p:nvSpPr>
        <p:spPr>
          <a:xfrm>
            <a:off x="548640" y="1463040"/>
            <a:ext cx="5212080" cy="274320"/>
          </a:xfrm>
          <a:prstGeom prst="rect">
            <a:avLst/>
          </a:prstGeom>
          <a:noFill/>
          <a:ln/>
        </p:spPr>
        <p:txBody>
          <a:bodyPr wrap="square" rtlCol="0" anchor="ctr"/>
          <a:lstStyle/>
          <a:p>
            <a:pPr indent="0" marL="0">
              <a:buNone/>
            </a:pPr>
            <a:r>
              <a:rPr lang="en-US" sz="1200" b="1" spc="150" kern="0" dirty="0">
                <a:solidFill>
                  <a:srgbClr val="14293D"/>
                </a:solidFill>
                <a:latin typeface="Calibri" pitchFamily="34" charset="0"/>
                <a:ea typeface="Calibri" pitchFamily="34" charset="-122"/>
                <a:cs typeface="Calibri" pitchFamily="34" charset="-120"/>
              </a:rPr>
              <a:t>PROBLEM STATEMENT</a:t>
            </a:r>
            <a:endParaRPr lang="en-US" sz="1200" dirty="0"/>
          </a:p>
        </p:txBody>
      </p:sp>
      <p:sp>
        <p:nvSpPr>
          <p:cNvPr id="6" name="Text 4"/>
          <p:cNvSpPr/>
          <p:nvPr/>
        </p:nvSpPr>
        <p:spPr>
          <a:xfrm>
            <a:off x="548640" y="1810512"/>
            <a:ext cx="5257800" cy="1051560"/>
          </a:xfrm>
          <a:prstGeom prst="rect">
            <a:avLst/>
          </a:prstGeom>
          <a:noFill/>
          <a:ln/>
        </p:spPr>
        <p:txBody>
          <a:bodyPr wrap="square" rtlCol="0" anchor="ctr"/>
          <a:lstStyle/>
          <a:p>
            <a:pPr indent="0" marL="0">
              <a:lnSpc>
                <a:spcPts val="1650"/>
              </a:lnSpc>
              <a:buNone/>
            </a:pPr>
            <a:r>
              <a:rPr lang="en-US" sz="1200" dirty="0">
                <a:solidFill>
                  <a:srgbClr val="33424F"/>
                </a:solidFill>
                <a:latin typeface="Calibri" pitchFamily="34" charset="0"/>
                <a:ea typeface="Calibri" pitchFamily="34" charset="-122"/>
                <a:cs typeface="Calibri" pitchFamily="34" charset="-120"/>
              </a:rPr>
              <a:t>Organizations running multiple warehouses must move stock between locations to meet demand and avoid stockouts. Spreadsheets and disconnected local systems cannot keep pace with concurrent transfers, approvals, and audits across sites, resulting in:</a:t>
            </a:r>
            <a:endParaRPr lang="en-US" sz="1200" dirty="0"/>
          </a:p>
        </p:txBody>
      </p:sp>
      <p:sp>
        <p:nvSpPr>
          <p:cNvPr id="7" name="Shape 5"/>
          <p:cNvSpPr/>
          <p:nvPr/>
        </p:nvSpPr>
        <p:spPr>
          <a:xfrm>
            <a:off x="548640" y="2971800"/>
            <a:ext cx="420624" cy="420624"/>
          </a:xfrm>
          <a:prstGeom prst="ellipse">
            <a:avLst/>
          </a:prstGeom>
          <a:solidFill>
            <a:srgbClr val="EAF1F4"/>
          </a:solidFill>
          <a:ln/>
        </p:spPr>
      </p:sp>
      <p:pic>
        <p:nvPicPr>
          <p:cNvPr id="8" name="Image 0" descr="/home/claude/icons/clock_teal.png">    </p:cNvPr>
          <p:cNvPicPr>
            <a:picLocks noChangeAspect="1"/>
          </p:cNvPicPr>
          <p:nvPr/>
        </p:nvPicPr>
        <p:blipFill>
          <a:blip r:embed="rId1"/>
          <a:stretch>
            <a:fillRect/>
          </a:stretch>
        </p:blipFill>
        <p:spPr>
          <a:xfrm>
            <a:off x="643280" y="3066440"/>
            <a:ext cx="231343" cy="231343"/>
          </a:xfrm>
          <a:prstGeom prst="rect">
            <a:avLst/>
          </a:prstGeom>
        </p:spPr>
      </p:pic>
      <p:sp>
        <p:nvSpPr>
          <p:cNvPr id="9" name="Text 6"/>
          <p:cNvSpPr/>
          <p:nvPr/>
        </p:nvSpPr>
        <p:spPr>
          <a:xfrm>
            <a:off x="1097280" y="2944368"/>
            <a:ext cx="4663440" cy="256032"/>
          </a:xfrm>
          <a:prstGeom prst="rect">
            <a:avLst/>
          </a:prstGeom>
          <a:noFill/>
          <a:ln/>
        </p:spPr>
        <p:txBody>
          <a:bodyPr wrap="square" rtlCol="0" anchor="ctr"/>
          <a:lstStyle/>
          <a:p>
            <a:pPr indent="0" marL="0">
              <a:buNone/>
            </a:pPr>
            <a:r>
              <a:rPr lang="en-US" sz="1200" b="1" dirty="0">
                <a:solidFill>
                  <a:srgbClr val="14293D"/>
                </a:solidFill>
                <a:latin typeface="Calibri" pitchFamily="34" charset="0"/>
                <a:ea typeface="Calibri" pitchFamily="34" charset="-122"/>
                <a:cs typeface="Calibri" pitchFamily="34" charset="-120"/>
              </a:rPr>
              <a:t>Delayed Visibility</a:t>
            </a:r>
            <a:endParaRPr lang="en-US" sz="1200" dirty="0"/>
          </a:p>
        </p:txBody>
      </p:sp>
      <p:sp>
        <p:nvSpPr>
          <p:cNvPr id="10" name="Text 7"/>
          <p:cNvSpPr/>
          <p:nvPr/>
        </p:nvSpPr>
        <p:spPr>
          <a:xfrm>
            <a:off x="1097280" y="3191256"/>
            <a:ext cx="4709160" cy="384048"/>
          </a:xfrm>
          <a:prstGeom prst="rect">
            <a:avLst/>
          </a:prstGeom>
          <a:noFill/>
          <a:ln/>
        </p:spPr>
        <p:txBody>
          <a:bodyPr wrap="square" rtlCol="0" anchor="ctr"/>
          <a:lstStyle/>
          <a:p>
            <a:pPr indent="0" marL="0">
              <a:lnSpc>
                <a:spcPts val="1300"/>
              </a:lnSpc>
              <a:buNone/>
            </a:pPr>
            <a:r>
              <a:rPr lang="en-US" sz="1000" dirty="0">
                <a:solidFill>
                  <a:srgbClr val="5A6B78"/>
                </a:solidFill>
                <a:latin typeface="Calibri" pitchFamily="34" charset="0"/>
                <a:ea typeface="Calibri" pitchFamily="34" charset="-122"/>
                <a:cs typeface="Calibri" pitchFamily="34" charset="-120"/>
              </a:rPr>
              <a:t>Stock counts update hours or days after a physical transfer occurs.</a:t>
            </a:r>
            <a:endParaRPr lang="en-US" sz="1000" dirty="0"/>
          </a:p>
        </p:txBody>
      </p:sp>
      <p:sp>
        <p:nvSpPr>
          <p:cNvPr id="11" name="Shape 8"/>
          <p:cNvSpPr/>
          <p:nvPr/>
        </p:nvSpPr>
        <p:spPr>
          <a:xfrm>
            <a:off x="548640" y="3794760"/>
            <a:ext cx="420624" cy="420624"/>
          </a:xfrm>
          <a:prstGeom prst="ellipse">
            <a:avLst/>
          </a:prstGeom>
          <a:solidFill>
            <a:srgbClr val="EAF1F4"/>
          </a:solidFill>
          <a:ln/>
        </p:spPr>
      </p:sp>
      <p:pic>
        <p:nvPicPr>
          <p:cNvPr id="12" name="Image 1" descr="/home/claude/icons/exchange_teal.png">    </p:cNvPr>
          <p:cNvPicPr>
            <a:picLocks noChangeAspect="1"/>
          </p:cNvPicPr>
          <p:nvPr/>
        </p:nvPicPr>
        <p:blipFill>
          <a:blip r:embed="rId2"/>
          <a:stretch>
            <a:fillRect/>
          </a:stretch>
        </p:blipFill>
        <p:spPr>
          <a:xfrm>
            <a:off x="643280" y="3889400"/>
            <a:ext cx="231343" cy="231343"/>
          </a:xfrm>
          <a:prstGeom prst="rect">
            <a:avLst/>
          </a:prstGeom>
        </p:spPr>
      </p:pic>
      <p:sp>
        <p:nvSpPr>
          <p:cNvPr id="13" name="Text 9"/>
          <p:cNvSpPr/>
          <p:nvPr/>
        </p:nvSpPr>
        <p:spPr>
          <a:xfrm>
            <a:off x="1097280" y="3767328"/>
            <a:ext cx="4663440" cy="256032"/>
          </a:xfrm>
          <a:prstGeom prst="rect">
            <a:avLst/>
          </a:prstGeom>
          <a:noFill/>
          <a:ln/>
        </p:spPr>
        <p:txBody>
          <a:bodyPr wrap="square" rtlCol="0" anchor="ctr"/>
          <a:lstStyle/>
          <a:p>
            <a:pPr indent="0" marL="0">
              <a:buNone/>
            </a:pPr>
            <a:r>
              <a:rPr lang="en-US" sz="1200" b="1" dirty="0">
                <a:solidFill>
                  <a:srgbClr val="14293D"/>
                </a:solidFill>
                <a:latin typeface="Calibri" pitchFamily="34" charset="0"/>
                <a:ea typeface="Calibri" pitchFamily="34" charset="-122"/>
                <a:cs typeface="Calibri" pitchFamily="34" charset="-120"/>
              </a:rPr>
              <a:t>Manual Reconciliation</a:t>
            </a:r>
            <a:endParaRPr lang="en-US" sz="1200" dirty="0"/>
          </a:p>
        </p:txBody>
      </p:sp>
      <p:sp>
        <p:nvSpPr>
          <p:cNvPr id="14" name="Text 10"/>
          <p:cNvSpPr/>
          <p:nvPr/>
        </p:nvSpPr>
        <p:spPr>
          <a:xfrm>
            <a:off x="1097280" y="4014216"/>
            <a:ext cx="4709160" cy="384048"/>
          </a:xfrm>
          <a:prstGeom prst="rect">
            <a:avLst/>
          </a:prstGeom>
          <a:noFill/>
          <a:ln/>
        </p:spPr>
        <p:txBody>
          <a:bodyPr wrap="square" rtlCol="0" anchor="ctr"/>
          <a:lstStyle/>
          <a:p>
            <a:pPr indent="0" marL="0">
              <a:lnSpc>
                <a:spcPts val="1300"/>
              </a:lnSpc>
              <a:buNone/>
            </a:pPr>
            <a:r>
              <a:rPr lang="en-US" sz="1000" dirty="0">
                <a:solidFill>
                  <a:srgbClr val="5A6B78"/>
                </a:solidFill>
                <a:latin typeface="Calibri" pitchFamily="34" charset="0"/>
                <a:ea typeface="Calibri" pitchFamily="34" charset="-122"/>
                <a:cs typeface="Calibri" pitchFamily="34" charset="-120"/>
              </a:rPr>
              <a:t>Staff cross-check paper logs and spreadsheets across warehouses.</a:t>
            </a:r>
            <a:endParaRPr lang="en-US" sz="1000" dirty="0"/>
          </a:p>
        </p:txBody>
      </p:sp>
      <p:sp>
        <p:nvSpPr>
          <p:cNvPr id="15" name="Shape 11"/>
          <p:cNvSpPr/>
          <p:nvPr/>
        </p:nvSpPr>
        <p:spPr>
          <a:xfrm>
            <a:off x="548640" y="4617720"/>
            <a:ext cx="420624" cy="420624"/>
          </a:xfrm>
          <a:prstGeom prst="ellipse">
            <a:avLst/>
          </a:prstGeom>
          <a:solidFill>
            <a:srgbClr val="EAF1F4"/>
          </a:solidFill>
          <a:ln/>
        </p:spPr>
      </p:sp>
      <p:pic>
        <p:nvPicPr>
          <p:cNvPr id="16" name="Image 2" descr="/home/claude/icons/ban_teal.png">    </p:cNvPr>
          <p:cNvPicPr>
            <a:picLocks noChangeAspect="1"/>
          </p:cNvPicPr>
          <p:nvPr/>
        </p:nvPicPr>
        <p:blipFill>
          <a:blip r:embed="rId3"/>
          <a:stretch>
            <a:fillRect/>
          </a:stretch>
        </p:blipFill>
        <p:spPr>
          <a:xfrm>
            <a:off x="643280" y="4712360"/>
            <a:ext cx="231343" cy="231343"/>
          </a:xfrm>
          <a:prstGeom prst="rect">
            <a:avLst/>
          </a:prstGeom>
        </p:spPr>
      </p:pic>
      <p:sp>
        <p:nvSpPr>
          <p:cNvPr id="17" name="Text 12"/>
          <p:cNvSpPr/>
          <p:nvPr/>
        </p:nvSpPr>
        <p:spPr>
          <a:xfrm>
            <a:off x="1097280" y="4590288"/>
            <a:ext cx="4663440" cy="256032"/>
          </a:xfrm>
          <a:prstGeom prst="rect">
            <a:avLst/>
          </a:prstGeom>
          <a:noFill/>
          <a:ln/>
        </p:spPr>
        <p:txBody>
          <a:bodyPr wrap="square" rtlCol="0" anchor="ctr"/>
          <a:lstStyle/>
          <a:p>
            <a:pPr indent="0" marL="0">
              <a:buNone/>
            </a:pPr>
            <a:r>
              <a:rPr lang="en-US" sz="1200" b="1" dirty="0">
                <a:solidFill>
                  <a:srgbClr val="14293D"/>
                </a:solidFill>
                <a:latin typeface="Calibri" pitchFamily="34" charset="0"/>
                <a:ea typeface="Calibri" pitchFamily="34" charset="-122"/>
                <a:cs typeface="Calibri" pitchFamily="34" charset="-120"/>
              </a:rPr>
              <a:t>Data Inconsistency</a:t>
            </a:r>
            <a:endParaRPr lang="en-US" sz="1200" dirty="0"/>
          </a:p>
        </p:txBody>
      </p:sp>
      <p:sp>
        <p:nvSpPr>
          <p:cNvPr id="18" name="Text 13"/>
          <p:cNvSpPr/>
          <p:nvPr/>
        </p:nvSpPr>
        <p:spPr>
          <a:xfrm>
            <a:off x="1097280" y="4837176"/>
            <a:ext cx="4709160" cy="384048"/>
          </a:xfrm>
          <a:prstGeom prst="rect">
            <a:avLst/>
          </a:prstGeom>
          <a:noFill/>
          <a:ln/>
        </p:spPr>
        <p:txBody>
          <a:bodyPr wrap="square" rtlCol="0" anchor="ctr"/>
          <a:lstStyle/>
          <a:p>
            <a:pPr indent="0" marL="0">
              <a:lnSpc>
                <a:spcPts val="1300"/>
              </a:lnSpc>
              <a:buNone/>
            </a:pPr>
            <a:r>
              <a:rPr lang="en-US" sz="1000" dirty="0">
                <a:solidFill>
                  <a:srgbClr val="5A6B78"/>
                </a:solidFill>
                <a:latin typeface="Calibri" pitchFamily="34" charset="0"/>
                <a:ea typeface="Calibri" pitchFamily="34" charset="-122"/>
                <a:cs typeface="Calibri" pitchFamily="34" charset="-120"/>
              </a:rPr>
              <a:t>Duplicate or conflicting stock records appear across systems.</a:t>
            </a:r>
            <a:endParaRPr lang="en-US" sz="1000" dirty="0"/>
          </a:p>
        </p:txBody>
      </p:sp>
      <p:sp>
        <p:nvSpPr>
          <p:cNvPr id="19" name="Shape 14"/>
          <p:cNvSpPr/>
          <p:nvPr/>
        </p:nvSpPr>
        <p:spPr>
          <a:xfrm>
            <a:off x="548640" y="5440680"/>
            <a:ext cx="420624" cy="420624"/>
          </a:xfrm>
          <a:prstGeom prst="ellipse">
            <a:avLst/>
          </a:prstGeom>
          <a:solidFill>
            <a:srgbClr val="EAF1F4"/>
          </a:solidFill>
          <a:ln/>
        </p:spPr>
      </p:sp>
      <p:pic>
        <p:nvPicPr>
          <p:cNvPr id="20" name="Image 3" descr="/home/claude/icons/box_teal.png">    </p:cNvPr>
          <p:cNvPicPr>
            <a:picLocks noChangeAspect="1"/>
          </p:cNvPicPr>
          <p:nvPr/>
        </p:nvPicPr>
        <p:blipFill>
          <a:blip r:embed="rId4"/>
          <a:stretch>
            <a:fillRect/>
          </a:stretch>
        </p:blipFill>
        <p:spPr>
          <a:xfrm>
            <a:off x="643280" y="5535320"/>
            <a:ext cx="231343" cy="231343"/>
          </a:xfrm>
          <a:prstGeom prst="rect">
            <a:avLst/>
          </a:prstGeom>
        </p:spPr>
      </p:pic>
      <p:sp>
        <p:nvSpPr>
          <p:cNvPr id="21" name="Text 15"/>
          <p:cNvSpPr/>
          <p:nvPr/>
        </p:nvSpPr>
        <p:spPr>
          <a:xfrm>
            <a:off x="1097280" y="5413248"/>
            <a:ext cx="4663440" cy="256032"/>
          </a:xfrm>
          <a:prstGeom prst="rect">
            <a:avLst/>
          </a:prstGeom>
          <a:noFill/>
          <a:ln/>
        </p:spPr>
        <p:txBody>
          <a:bodyPr wrap="square" rtlCol="0" anchor="ctr"/>
          <a:lstStyle/>
          <a:p>
            <a:pPr indent="0" marL="0">
              <a:buNone/>
            </a:pPr>
            <a:r>
              <a:rPr lang="en-US" sz="1200" b="1" dirty="0">
                <a:solidFill>
                  <a:srgbClr val="14293D"/>
                </a:solidFill>
                <a:latin typeface="Calibri" pitchFamily="34" charset="0"/>
                <a:ea typeface="Calibri" pitchFamily="34" charset="-122"/>
                <a:cs typeface="Calibri" pitchFamily="34" charset="-120"/>
              </a:rPr>
              <a:t>Stockouts &amp; Overstock</a:t>
            </a:r>
            <a:endParaRPr lang="en-US" sz="1200" dirty="0"/>
          </a:p>
        </p:txBody>
      </p:sp>
      <p:sp>
        <p:nvSpPr>
          <p:cNvPr id="22" name="Text 16"/>
          <p:cNvSpPr/>
          <p:nvPr/>
        </p:nvSpPr>
        <p:spPr>
          <a:xfrm>
            <a:off x="1097280" y="5660136"/>
            <a:ext cx="4709160" cy="384048"/>
          </a:xfrm>
          <a:prstGeom prst="rect">
            <a:avLst/>
          </a:prstGeom>
          <a:noFill/>
          <a:ln/>
        </p:spPr>
        <p:txBody>
          <a:bodyPr wrap="square" rtlCol="0" anchor="ctr"/>
          <a:lstStyle/>
          <a:p>
            <a:pPr indent="0" marL="0">
              <a:lnSpc>
                <a:spcPts val="1300"/>
              </a:lnSpc>
              <a:buNone/>
            </a:pPr>
            <a:r>
              <a:rPr lang="en-US" sz="1000" dirty="0">
                <a:solidFill>
                  <a:srgbClr val="5A6B78"/>
                </a:solidFill>
                <a:latin typeface="Calibri" pitchFamily="34" charset="0"/>
                <a:ea typeface="Calibri" pitchFamily="34" charset="-122"/>
                <a:cs typeface="Calibri" pitchFamily="34" charset="-120"/>
              </a:rPr>
              <a:t>Poor visibility leads to imbalanced inventory across locations.</a:t>
            </a:r>
            <a:endParaRPr lang="en-US" sz="1000" dirty="0"/>
          </a:p>
        </p:txBody>
      </p:sp>
      <p:sp>
        <p:nvSpPr>
          <p:cNvPr id="23" name="Text 17"/>
          <p:cNvSpPr/>
          <p:nvPr/>
        </p:nvSpPr>
        <p:spPr>
          <a:xfrm>
            <a:off x="6309360" y="1463040"/>
            <a:ext cx="5394960" cy="274320"/>
          </a:xfrm>
          <a:prstGeom prst="rect">
            <a:avLst/>
          </a:prstGeom>
          <a:noFill/>
          <a:ln/>
        </p:spPr>
        <p:txBody>
          <a:bodyPr wrap="square" rtlCol="0" anchor="ctr"/>
          <a:lstStyle/>
          <a:p>
            <a:pPr indent="0" marL="0">
              <a:buNone/>
            </a:pPr>
            <a:r>
              <a:rPr lang="en-US" sz="1200" b="1" spc="150" kern="0" dirty="0">
                <a:solidFill>
                  <a:srgbClr val="14293D"/>
                </a:solidFill>
                <a:latin typeface="Calibri" pitchFamily="34" charset="0"/>
                <a:ea typeface="Calibri" pitchFamily="34" charset="-122"/>
                <a:cs typeface="Calibri" pitchFamily="34" charset="-120"/>
              </a:rPr>
              <a:t>PROJECT OBJECTIVES</a:t>
            </a:r>
            <a:endParaRPr lang="en-US" sz="1200" dirty="0"/>
          </a:p>
        </p:txBody>
      </p:sp>
      <p:sp>
        <p:nvSpPr>
          <p:cNvPr id="24" name="Text 18"/>
          <p:cNvSpPr/>
          <p:nvPr/>
        </p:nvSpPr>
        <p:spPr>
          <a:xfrm>
            <a:off x="6309360" y="1810512"/>
            <a:ext cx="5349240" cy="685800"/>
          </a:xfrm>
          <a:prstGeom prst="rect">
            <a:avLst/>
          </a:prstGeom>
          <a:noFill/>
          <a:ln/>
        </p:spPr>
        <p:txBody>
          <a:bodyPr wrap="square" rtlCol="0" anchor="ctr"/>
          <a:lstStyle/>
          <a:p>
            <a:pPr indent="0" marL="0">
              <a:lnSpc>
                <a:spcPts val="1650"/>
              </a:lnSpc>
              <a:buNone/>
            </a:pPr>
            <a:r>
              <a:rPr lang="en-US" sz="1200" dirty="0">
                <a:solidFill>
                  <a:srgbClr val="33424F"/>
                </a:solidFill>
                <a:latin typeface="Calibri" pitchFamily="34" charset="0"/>
                <a:ea typeface="Calibri" pitchFamily="34" charset="-122"/>
                <a:cs typeface="Calibri" pitchFamily="34" charset="-120"/>
              </a:rPr>
              <a:t>The system is designed to directly resolve these gaps through a single, transaction-safe database shared by every warehouse:</a:t>
            </a:r>
            <a:endParaRPr lang="en-US" sz="1200" dirty="0"/>
          </a:p>
        </p:txBody>
      </p:sp>
      <p:sp>
        <p:nvSpPr>
          <p:cNvPr id="25" name="Shape 19"/>
          <p:cNvSpPr/>
          <p:nvPr/>
        </p:nvSpPr>
        <p:spPr>
          <a:xfrm>
            <a:off x="6309360" y="2606040"/>
            <a:ext cx="420624" cy="420624"/>
          </a:xfrm>
          <a:prstGeom prst="ellipse">
            <a:avLst/>
          </a:prstGeom>
          <a:solidFill>
            <a:srgbClr val="EAF1F4"/>
          </a:solidFill>
          <a:ln/>
        </p:spPr>
      </p:sp>
      <p:pic>
        <p:nvPicPr>
          <p:cNvPr id="26" name="Image 4" descr="/home/claude/icons/database_teal.png">    </p:cNvPr>
          <p:cNvPicPr>
            <a:picLocks noChangeAspect="1"/>
          </p:cNvPicPr>
          <p:nvPr/>
        </p:nvPicPr>
        <p:blipFill>
          <a:blip r:embed="rId5"/>
          <a:stretch>
            <a:fillRect/>
          </a:stretch>
        </p:blipFill>
        <p:spPr>
          <a:xfrm>
            <a:off x="6404000" y="2700680"/>
            <a:ext cx="231343" cy="231343"/>
          </a:xfrm>
          <a:prstGeom prst="rect">
            <a:avLst/>
          </a:prstGeom>
        </p:spPr>
      </p:pic>
      <p:sp>
        <p:nvSpPr>
          <p:cNvPr id="27" name="Text 20"/>
          <p:cNvSpPr/>
          <p:nvPr/>
        </p:nvSpPr>
        <p:spPr>
          <a:xfrm>
            <a:off x="6858000" y="2578608"/>
            <a:ext cx="4800600" cy="256032"/>
          </a:xfrm>
          <a:prstGeom prst="rect">
            <a:avLst/>
          </a:prstGeom>
          <a:noFill/>
          <a:ln/>
        </p:spPr>
        <p:txBody>
          <a:bodyPr wrap="square" rtlCol="0" anchor="ctr"/>
          <a:lstStyle/>
          <a:p>
            <a:pPr indent="0" marL="0">
              <a:buNone/>
            </a:pPr>
            <a:r>
              <a:rPr lang="en-US" sz="1200" b="1" dirty="0">
                <a:solidFill>
                  <a:srgbClr val="14293D"/>
                </a:solidFill>
                <a:latin typeface="Calibri" pitchFamily="34" charset="0"/>
                <a:ea typeface="Calibri" pitchFamily="34" charset="-122"/>
                <a:cs typeface="Calibri" pitchFamily="34" charset="-120"/>
              </a:rPr>
              <a:t>Centralized Data Store</a:t>
            </a:r>
            <a:endParaRPr lang="en-US" sz="1200" dirty="0"/>
          </a:p>
        </p:txBody>
      </p:sp>
      <p:sp>
        <p:nvSpPr>
          <p:cNvPr id="28" name="Text 21"/>
          <p:cNvSpPr/>
          <p:nvPr/>
        </p:nvSpPr>
        <p:spPr>
          <a:xfrm>
            <a:off x="6858000" y="2825496"/>
            <a:ext cx="4846320" cy="384048"/>
          </a:xfrm>
          <a:prstGeom prst="rect">
            <a:avLst/>
          </a:prstGeom>
          <a:noFill/>
          <a:ln/>
        </p:spPr>
        <p:txBody>
          <a:bodyPr wrap="square" rtlCol="0" anchor="ctr"/>
          <a:lstStyle/>
          <a:p>
            <a:pPr indent="0" marL="0">
              <a:lnSpc>
                <a:spcPts val="1300"/>
              </a:lnSpc>
              <a:buNone/>
            </a:pPr>
            <a:r>
              <a:rPr lang="en-US" sz="1000" dirty="0">
                <a:solidFill>
                  <a:srgbClr val="5A6B78"/>
                </a:solidFill>
                <a:latin typeface="Calibri" pitchFamily="34" charset="0"/>
                <a:ea typeface="Calibri" pitchFamily="34" charset="-122"/>
                <a:cs typeface="Calibri" pitchFamily="34" charset="-120"/>
              </a:rPr>
              <a:t>One relational schema shared by every warehouse, eliminating duplicate local records.</a:t>
            </a:r>
            <a:endParaRPr lang="en-US" sz="1000" dirty="0"/>
          </a:p>
        </p:txBody>
      </p:sp>
      <p:sp>
        <p:nvSpPr>
          <p:cNvPr id="29" name="Shape 22"/>
          <p:cNvSpPr/>
          <p:nvPr/>
        </p:nvSpPr>
        <p:spPr>
          <a:xfrm>
            <a:off x="6309360" y="3429000"/>
            <a:ext cx="420624" cy="420624"/>
          </a:xfrm>
          <a:prstGeom prst="ellipse">
            <a:avLst/>
          </a:prstGeom>
          <a:solidFill>
            <a:srgbClr val="EAF1F4"/>
          </a:solidFill>
          <a:ln/>
        </p:spPr>
      </p:sp>
      <p:pic>
        <p:nvPicPr>
          <p:cNvPr id="30" name="Image 5" descr="/home/claude/icons/chart_teal.png">    </p:cNvPr>
          <p:cNvPicPr>
            <a:picLocks noChangeAspect="1"/>
          </p:cNvPicPr>
          <p:nvPr/>
        </p:nvPicPr>
        <p:blipFill>
          <a:blip r:embed="rId6"/>
          <a:stretch>
            <a:fillRect/>
          </a:stretch>
        </p:blipFill>
        <p:spPr>
          <a:xfrm>
            <a:off x="6404000" y="3523640"/>
            <a:ext cx="231343" cy="231343"/>
          </a:xfrm>
          <a:prstGeom prst="rect">
            <a:avLst/>
          </a:prstGeom>
        </p:spPr>
      </p:pic>
      <p:sp>
        <p:nvSpPr>
          <p:cNvPr id="31" name="Text 23"/>
          <p:cNvSpPr/>
          <p:nvPr/>
        </p:nvSpPr>
        <p:spPr>
          <a:xfrm>
            <a:off x="6858000" y="3401568"/>
            <a:ext cx="4800600" cy="256032"/>
          </a:xfrm>
          <a:prstGeom prst="rect">
            <a:avLst/>
          </a:prstGeom>
          <a:noFill/>
          <a:ln/>
        </p:spPr>
        <p:txBody>
          <a:bodyPr wrap="square" rtlCol="0" anchor="ctr"/>
          <a:lstStyle/>
          <a:p>
            <a:pPr indent="0" marL="0">
              <a:buNone/>
            </a:pPr>
            <a:r>
              <a:rPr lang="en-US" sz="1200" b="1" dirty="0">
                <a:solidFill>
                  <a:srgbClr val="14293D"/>
                </a:solidFill>
                <a:latin typeface="Calibri" pitchFamily="34" charset="0"/>
                <a:ea typeface="Calibri" pitchFamily="34" charset="-122"/>
                <a:cs typeface="Calibri" pitchFamily="34" charset="-120"/>
              </a:rPr>
              <a:t>Real-Time Stock Visibility</a:t>
            </a:r>
            <a:endParaRPr lang="en-US" sz="1200" dirty="0"/>
          </a:p>
        </p:txBody>
      </p:sp>
      <p:sp>
        <p:nvSpPr>
          <p:cNvPr id="32" name="Text 24"/>
          <p:cNvSpPr/>
          <p:nvPr/>
        </p:nvSpPr>
        <p:spPr>
          <a:xfrm>
            <a:off x="6858000" y="3648456"/>
            <a:ext cx="4846320" cy="384048"/>
          </a:xfrm>
          <a:prstGeom prst="rect">
            <a:avLst/>
          </a:prstGeom>
          <a:noFill/>
          <a:ln/>
        </p:spPr>
        <p:txBody>
          <a:bodyPr wrap="square" rtlCol="0" anchor="ctr"/>
          <a:lstStyle/>
          <a:p>
            <a:pPr indent="0" marL="0">
              <a:lnSpc>
                <a:spcPts val="1300"/>
              </a:lnSpc>
              <a:buNone/>
            </a:pPr>
            <a:r>
              <a:rPr lang="en-US" sz="1000" dirty="0">
                <a:solidFill>
                  <a:srgbClr val="5A6B78"/>
                </a:solidFill>
                <a:latin typeface="Calibri" pitchFamily="34" charset="0"/>
                <a:ea typeface="Calibri" pitchFamily="34" charset="-122"/>
                <a:cs typeface="Calibri" pitchFamily="34" charset="-120"/>
              </a:rPr>
              <a:t>Live on-hand and in-transit quantities per SKU, per location, at all times.</a:t>
            </a:r>
            <a:endParaRPr lang="en-US" sz="1000" dirty="0"/>
          </a:p>
        </p:txBody>
      </p:sp>
      <p:sp>
        <p:nvSpPr>
          <p:cNvPr id="33" name="Shape 25"/>
          <p:cNvSpPr/>
          <p:nvPr/>
        </p:nvSpPr>
        <p:spPr>
          <a:xfrm>
            <a:off x="6309360" y="4251960"/>
            <a:ext cx="420624" cy="420624"/>
          </a:xfrm>
          <a:prstGeom prst="ellipse">
            <a:avLst/>
          </a:prstGeom>
          <a:solidFill>
            <a:srgbClr val="EAF1F4"/>
          </a:solidFill>
          <a:ln/>
        </p:spPr>
      </p:sp>
      <p:pic>
        <p:nvPicPr>
          <p:cNvPr id="34" name="Image 6" descr="/home/claude/icons/clipboard_teal.png">    </p:cNvPr>
          <p:cNvPicPr>
            <a:picLocks noChangeAspect="1"/>
          </p:cNvPicPr>
          <p:nvPr/>
        </p:nvPicPr>
        <p:blipFill>
          <a:blip r:embed="rId7"/>
          <a:stretch>
            <a:fillRect/>
          </a:stretch>
        </p:blipFill>
        <p:spPr>
          <a:xfrm>
            <a:off x="6404000" y="4346600"/>
            <a:ext cx="231343" cy="231343"/>
          </a:xfrm>
          <a:prstGeom prst="rect">
            <a:avLst/>
          </a:prstGeom>
        </p:spPr>
      </p:pic>
      <p:sp>
        <p:nvSpPr>
          <p:cNvPr id="35" name="Text 26"/>
          <p:cNvSpPr/>
          <p:nvPr/>
        </p:nvSpPr>
        <p:spPr>
          <a:xfrm>
            <a:off x="6858000" y="4224528"/>
            <a:ext cx="4800600" cy="256032"/>
          </a:xfrm>
          <a:prstGeom prst="rect">
            <a:avLst/>
          </a:prstGeom>
          <a:noFill/>
          <a:ln/>
        </p:spPr>
        <p:txBody>
          <a:bodyPr wrap="square" rtlCol="0" anchor="ctr"/>
          <a:lstStyle/>
          <a:p>
            <a:pPr indent="0" marL="0">
              <a:buNone/>
            </a:pPr>
            <a:r>
              <a:rPr lang="en-US" sz="1200" b="1" dirty="0">
                <a:solidFill>
                  <a:srgbClr val="14293D"/>
                </a:solidFill>
                <a:latin typeface="Calibri" pitchFamily="34" charset="0"/>
                <a:ea typeface="Calibri" pitchFamily="34" charset="-122"/>
                <a:cs typeface="Calibri" pitchFamily="34" charset="-120"/>
              </a:rPr>
              <a:t>Controlled Transfer Workflow</a:t>
            </a:r>
            <a:endParaRPr lang="en-US" sz="1200" dirty="0"/>
          </a:p>
        </p:txBody>
      </p:sp>
      <p:sp>
        <p:nvSpPr>
          <p:cNvPr id="36" name="Text 27"/>
          <p:cNvSpPr/>
          <p:nvPr/>
        </p:nvSpPr>
        <p:spPr>
          <a:xfrm>
            <a:off x="6858000" y="4471416"/>
            <a:ext cx="4846320" cy="384048"/>
          </a:xfrm>
          <a:prstGeom prst="rect">
            <a:avLst/>
          </a:prstGeom>
          <a:noFill/>
          <a:ln/>
        </p:spPr>
        <p:txBody>
          <a:bodyPr wrap="square" rtlCol="0" anchor="ctr"/>
          <a:lstStyle/>
          <a:p>
            <a:pPr indent="0" marL="0">
              <a:lnSpc>
                <a:spcPts val="1300"/>
              </a:lnSpc>
              <a:buNone/>
            </a:pPr>
            <a:r>
              <a:rPr lang="en-US" sz="1000" dirty="0">
                <a:solidFill>
                  <a:srgbClr val="5A6B78"/>
                </a:solidFill>
                <a:latin typeface="Calibri" pitchFamily="34" charset="0"/>
                <a:ea typeface="Calibri" pitchFamily="34" charset="-122"/>
                <a:cs typeface="Calibri" pitchFamily="34" charset="-120"/>
              </a:rPr>
              <a:t>Enforced request → approval → dispatch → receipt sequence with audit trail.</a:t>
            </a:r>
            <a:endParaRPr lang="en-US" sz="1000" dirty="0"/>
          </a:p>
        </p:txBody>
      </p:sp>
      <p:sp>
        <p:nvSpPr>
          <p:cNvPr id="37" name="Shape 28"/>
          <p:cNvSpPr/>
          <p:nvPr/>
        </p:nvSpPr>
        <p:spPr>
          <a:xfrm>
            <a:off x="6309360" y="5074920"/>
            <a:ext cx="420624" cy="420624"/>
          </a:xfrm>
          <a:prstGeom prst="ellipse">
            <a:avLst/>
          </a:prstGeom>
          <a:solidFill>
            <a:srgbClr val="EAF1F4"/>
          </a:solidFill>
          <a:ln/>
        </p:spPr>
      </p:sp>
      <p:pic>
        <p:nvPicPr>
          <p:cNvPr id="38" name="Image 7" descr="/home/claude/icons/shield_teal.png">    </p:cNvPr>
          <p:cNvPicPr>
            <a:picLocks noChangeAspect="1"/>
          </p:cNvPicPr>
          <p:nvPr/>
        </p:nvPicPr>
        <p:blipFill>
          <a:blip r:embed="rId8"/>
          <a:stretch>
            <a:fillRect/>
          </a:stretch>
        </p:blipFill>
        <p:spPr>
          <a:xfrm>
            <a:off x="6404000" y="5169560"/>
            <a:ext cx="231343" cy="231343"/>
          </a:xfrm>
          <a:prstGeom prst="rect">
            <a:avLst/>
          </a:prstGeom>
        </p:spPr>
      </p:pic>
      <p:sp>
        <p:nvSpPr>
          <p:cNvPr id="39" name="Text 29"/>
          <p:cNvSpPr/>
          <p:nvPr/>
        </p:nvSpPr>
        <p:spPr>
          <a:xfrm>
            <a:off x="6858000" y="5047488"/>
            <a:ext cx="4800600" cy="256032"/>
          </a:xfrm>
          <a:prstGeom prst="rect">
            <a:avLst/>
          </a:prstGeom>
          <a:noFill/>
          <a:ln/>
        </p:spPr>
        <p:txBody>
          <a:bodyPr wrap="square" rtlCol="0" anchor="ctr"/>
          <a:lstStyle/>
          <a:p>
            <a:pPr indent="0" marL="0">
              <a:buNone/>
            </a:pPr>
            <a:r>
              <a:rPr lang="en-US" sz="1200" b="1" dirty="0">
                <a:solidFill>
                  <a:srgbClr val="14293D"/>
                </a:solidFill>
                <a:latin typeface="Calibri" pitchFamily="34" charset="0"/>
                <a:ea typeface="Calibri" pitchFamily="34" charset="-122"/>
                <a:cs typeface="Calibri" pitchFamily="34" charset="-120"/>
              </a:rPr>
              <a:t>Data Integrity &amp; Security</a:t>
            </a:r>
            <a:endParaRPr lang="en-US" sz="1200" dirty="0"/>
          </a:p>
        </p:txBody>
      </p:sp>
      <p:sp>
        <p:nvSpPr>
          <p:cNvPr id="40" name="Text 30"/>
          <p:cNvSpPr/>
          <p:nvPr/>
        </p:nvSpPr>
        <p:spPr>
          <a:xfrm>
            <a:off x="6858000" y="5294376"/>
            <a:ext cx="4846320" cy="384048"/>
          </a:xfrm>
          <a:prstGeom prst="rect">
            <a:avLst/>
          </a:prstGeom>
          <a:noFill/>
          <a:ln/>
        </p:spPr>
        <p:txBody>
          <a:bodyPr wrap="square" rtlCol="0" anchor="ctr"/>
          <a:lstStyle/>
          <a:p>
            <a:pPr indent="0" marL="0">
              <a:lnSpc>
                <a:spcPts val="1300"/>
              </a:lnSpc>
              <a:buNone/>
            </a:pPr>
            <a:r>
              <a:rPr lang="en-US" sz="1000" dirty="0">
                <a:solidFill>
                  <a:srgbClr val="5A6B78"/>
                </a:solidFill>
                <a:latin typeface="Calibri" pitchFamily="34" charset="0"/>
                <a:ea typeface="Calibri" pitchFamily="34" charset="-122"/>
                <a:cs typeface="Calibri" pitchFamily="34" charset="-120"/>
              </a:rPr>
              <a:t>Referential integrity, transactions, and role-based access protect stock records.</a:t>
            </a:r>
            <a:endParaRPr lang="en-US" sz="1000" dirty="0"/>
          </a:p>
        </p:txBody>
      </p:sp>
      <p:sp>
        <p:nvSpPr>
          <p:cNvPr id="41" name="Text 31"/>
          <p:cNvSpPr/>
          <p:nvPr/>
        </p:nvSpPr>
        <p:spPr>
          <a:xfrm>
            <a:off x="457200" y="6565392"/>
            <a:ext cx="7315200" cy="256032"/>
          </a:xfrm>
          <a:prstGeom prst="rect">
            <a:avLst/>
          </a:prstGeom>
          <a:noFill/>
          <a:ln/>
        </p:spPr>
        <p:txBody>
          <a:bodyPr wrap="square" rtlCol="0" anchor="ctr"/>
          <a:lstStyle/>
          <a:p>
            <a:pPr algn="l" indent="0" marL="0">
              <a:buNone/>
            </a:pPr>
            <a:r>
              <a:rPr lang="en-US" sz="900" dirty="0">
                <a:solidFill>
                  <a:srgbClr val="5A6B78"/>
                </a:solidFill>
                <a:latin typeface="Calibri" pitchFamily="34" charset="0"/>
                <a:ea typeface="Calibri" pitchFamily="34" charset="-122"/>
                <a:cs typeface="Calibri" pitchFamily="34" charset="-120"/>
              </a:rPr>
              <a:t>Multi-Warehouse Stock Transfer DBMS</a:t>
            </a:r>
            <a:endParaRPr lang="en-US" sz="900" dirty="0"/>
          </a:p>
        </p:txBody>
      </p:sp>
      <p:sp>
        <p:nvSpPr>
          <p:cNvPr id="42" name="Text 32"/>
          <p:cNvSpPr/>
          <p:nvPr/>
        </p:nvSpPr>
        <p:spPr>
          <a:xfrm>
            <a:off x="11521440" y="6565392"/>
            <a:ext cx="365760" cy="256032"/>
          </a:xfrm>
          <a:prstGeom prst="rect">
            <a:avLst/>
          </a:prstGeom>
          <a:noFill/>
          <a:ln/>
        </p:spPr>
        <p:txBody>
          <a:bodyPr wrap="square"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1B7A8C"/>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58368"/>
            <a:ext cx="9601200" cy="548640"/>
          </a:xfrm>
          <a:prstGeom prst="rect">
            <a:avLst/>
          </a:prstGeom>
          <a:noFill/>
          <a:ln/>
        </p:spPr>
        <p:txBody>
          <a:bodyPr wrap="square" rtlCol="0" anchor="ctr"/>
          <a:lstStyle/>
          <a:p>
            <a:pPr indent="0" marL="0">
              <a:buNone/>
            </a:pPr>
            <a:r>
              <a:rPr lang="en-US" sz="2500" b="1" dirty="0">
                <a:solidFill>
                  <a:srgbClr val="14293D"/>
                </a:solidFill>
                <a:latin typeface="Cambria" pitchFamily="34" charset="0"/>
                <a:ea typeface="Cambria" pitchFamily="34" charset="-122"/>
                <a:cs typeface="Cambria" pitchFamily="34" charset="-120"/>
              </a:rPr>
              <a:t>Architecture &amp; Database Design</a:t>
            </a:r>
            <a:endParaRPr lang="en-US" sz="2500" dirty="0"/>
          </a:p>
        </p:txBody>
      </p:sp>
      <p:sp>
        <p:nvSpPr>
          <p:cNvPr id="4" name="Text 2"/>
          <p:cNvSpPr/>
          <p:nvPr/>
        </p:nvSpPr>
        <p:spPr>
          <a:xfrm>
            <a:off x="548640" y="1417320"/>
            <a:ext cx="4572000" cy="274320"/>
          </a:xfrm>
          <a:prstGeom prst="rect">
            <a:avLst/>
          </a:prstGeom>
          <a:noFill/>
          <a:ln/>
        </p:spPr>
        <p:txBody>
          <a:bodyPr wrap="square" rtlCol="0" anchor="ctr"/>
          <a:lstStyle/>
          <a:p>
            <a:pPr indent="0" marL="0">
              <a:buNone/>
            </a:pPr>
            <a:r>
              <a:rPr lang="en-US" sz="1150" b="1" spc="100" kern="0" dirty="0">
                <a:solidFill>
                  <a:srgbClr val="14293D"/>
                </a:solidFill>
                <a:latin typeface="Calibri" pitchFamily="34" charset="0"/>
                <a:ea typeface="Calibri" pitchFamily="34" charset="-122"/>
                <a:cs typeface="Calibri" pitchFamily="34" charset="-120"/>
              </a:rPr>
              <a:t>THREE-TIER ARCHITECTURE</a:t>
            </a:r>
            <a:endParaRPr lang="en-US" sz="1150" dirty="0"/>
          </a:p>
        </p:txBody>
      </p:sp>
      <p:sp>
        <p:nvSpPr>
          <p:cNvPr id="5" name="Shape 3"/>
          <p:cNvSpPr/>
          <p:nvPr/>
        </p:nvSpPr>
        <p:spPr>
          <a:xfrm>
            <a:off x="548640" y="1783080"/>
            <a:ext cx="5349240" cy="1207008"/>
          </a:xfrm>
          <a:prstGeom prst="roundRect">
            <a:avLst>
              <a:gd name="adj" fmla="val 4545"/>
            </a:avLst>
          </a:prstGeom>
          <a:solidFill>
            <a:srgbClr val="1B7A8C"/>
          </a:solidFill>
          <a:ln/>
        </p:spPr>
      </p:sp>
      <p:sp>
        <p:nvSpPr>
          <p:cNvPr id="6" name="Shape 4"/>
          <p:cNvSpPr/>
          <p:nvPr/>
        </p:nvSpPr>
        <p:spPr>
          <a:xfrm>
            <a:off x="713232" y="2103120"/>
            <a:ext cx="566928" cy="566928"/>
          </a:xfrm>
          <a:prstGeom prst="ellipse">
            <a:avLst/>
          </a:prstGeom>
          <a:solidFill>
            <a:srgbClr val="FFFFFF"/>
          </a:solidFill>
          <a:ln/>
        </p:spPr>
      </p:sp>
      <p:pic>
        <p:nvPicPr>
          <p:cNvPr id="7" name="Image 0" descr="/home/claude/icons/mobile_teal.png">    </p:cNvPr>
          <p:cNvPicPr>
            <a:picLocks noChangeAspect="1"/>
          </p:cNvPicPr>
          <p:nvPr/>
        </p:nvPicPr>
        <p:blipFill>
          <a:blip r:embed="rId1"/>
          <a:stretch>
            <a:fillRect/>
          </a:stretch>
        </p:blipFill>
        <p:spPr>
          <a:xfrm>
            <a:off x="854964" y="2244852"/>
            <a:ext cx="283464" cy="283464"/>
          </a:xfrm>
          <a:prstGeom prst="rect">
            <a:avLst/>
          </a:prstGeom>
        </p:spPr>
      </p:pic>
      <p:sp>
        <p:nvSpPr>
          <p:cNvPr id="8" name="Text 5"/>
          <p:cNvSpPr/>
          <p:nvPr/>
        </p:nvSpPr>
        <p:spPr>
          <a:xfrm>
            <a:off x="1463040" y="1911096"/>
            <a:ext cx="4434840" cy="292608"/>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Presentation Layer</a:t>
            </a:r>
            <a:endParaRPr lang="en-US" sz="1350" dirty="0"/>
          </a:p>
        </p:txBody>
      </p:sp>
      <p:sp>
        <p:nvSpPr>
          <p:cNvPr id="9" name="Text 6"/>
          <p:cNvSpPr/>
          <p:nvPr/>
        </p:nvSpPr>
        <p:spPr>
          <a:xfrm>
            <a:off x="1463040" y="2221992"/>
            <a:ext cx="4434840" cy="685800"/>
          </a:xfrm>
          <a:prstGeom prst="rect">
            <a:avLst/>
          </a:prstGeom>
          <a:noFill/>
          <a:ln/>
        </p:spPr>
        <p:txBody>
          <a:bodyPr wrap="square" rtlCol="0" anchor="ctr"/>
          <a:lstStyle/>
          <a:p>
            <a:pPr indent="0" marL="0">
              <a:lnSpc>
                <a:spcPts val="1300"/>
              </a:lnSpc>
              <a:buNone/>
            </a:pPr>
            <a:r>
              <a:rPr lang="en-US" sz="1050" dirty="0">
                <a:solidFill>
                  <a:srgbClr val="F0F4F7"/>
                </a:solidFill>
                <a:latin typeface="Calibri" pitchFamily="34" charset="0"/>
                <a:ea typeface="Calibri" pitchFamily="34" charset="-122"/>
                <a:cs typeface="Calibri" pitchFamily="34" charset="-120"/>
              </a:rPr>
              <a:t>Web &amp; desktop clients for staff and managers to raise and track transfers.</a:t>
            </a:r>
            <a:endParaRPr lang="en-US" sz="1050" dirty="0"/>
          </a:p>
        </p:txBody>
      </p:sp>
      <p:sp>
        <p:nvSpPr>
          <p:cNvPr id="10" name="Shape 7"/>
          <p:cNvSpPr/>
          <p:nvPr/>
        </p:nvSpPr>
        <p:spPr>
          <a:xfrm>
            <a:off x="548640" y="3118104"/>
            <a:ext cx="5349240" cy="1207008"/>
          </a:xfrm>
          <a:prstGeom prst="roundRect">
            <a:avLst>
              <a:gd name="adj" fmla="val 4545"/>
            </a:avLst>
          </a:prstGeom>
          <a:solidFill>
            <a:srgbClr val="F2994A"/>
          </a:solidFill>
          <a:ln/>
        </p:spPr>
      </p:sp>
      <p:sp>
        <p:nvSpPr>
          <p:cNvPr id="11" name="Shape 8"/>
          <p:cNvSpPr/>
          <p:nvPr/>
        </p:nvSpPr>
        <p:spPr>
          <a:xfrm>
            <a:off x="713232" y="3438144"/>
            <a:ext cx="566928" cy="566928"/>
          </a:xfrm>
          <a:prstGeom prst="ellipse">
            <a:avLst/>
          </a:prstGeom>
          <a:solidFill>
            <a:srgbClr val="FFFFFF"/>
          </a:solidFill>
          <a:ln/>
        </p:spPr>
      </p:sp>
      <p:pic>
        <p:nvPicPr>
          <p:cNvPr id="12" name="Image 1" descr="/home/claude/icons/server_orange.png">    </p:cNvPr>
          <p:cNvPicPr>
            <a:picLocks noChangeAspect="1"/>
          </p:cNvPicPr>
          <p:nvPr/>
        </p:nvPicPr>
        <p:blipFill>
          <a:blip r:embed="rId2"/>
          <a:stretch>
            <a:fillRect/>
          </a:stretch>
        </p:blipFill>
        <p:spPr>
          <a:xfrm>
            <a:off x="854964" y="3579876"/>
            <a:ext cx="283464" cy="283464"/>
          </a:xfrm>
          <a:prstGeom prst="rect">
            <a:avLst/>
          </a:prstGeom>
        </p:spPr>
      </p:pic>
      <p:sp>
        <p:nvSpPr>
          <p:cNvPr id="13" name="Text 9"/>
          <p:cNvSpPr/>
          <p:nvPr/>
        </p:nvSpPr>
        <p:spPr>
          <a:xfrm>
            <a:off x="1463040" y="3246120"/>
            <a:ext cx="4434840" cy="292608"/>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Application Layer</a:t>
            </a:r>
            <a:endParaRPr lang="en-US" sz="1350" dirty="0"/>
          </a:p>
        </p:txBody>
      </p:sp>
      <p:sp>
        <p:nvSpPr>
          <p:cNvPr id="14" name="Text 10"/>
          <p:cNvSpPr/>
          <p:nvPr/>
        </p:nvSpPr>
        <p:spPr>
          <a:xfrm>
            <a:off x="1463040" y="3557016"/>
            <a:ext cx="4434840" cy="685800"/>
          </a:xfrm>
          <a:prstGeom prst="rect">
            <a:avLst/>
          </a:prstGeom>
          <a:noFill/>
          <a:ln/>
        </p:spPr>
        <p:txBody>
          <a:bodyPr wrap="square" rtlCol="0" anchor="ctr"/>
          <a:lstStyle/>
          <a:p>
            <a:pPr indent="0" marL="0">
              <a:lnSpc>
                <a:spcPts val="1300"/>
              </a:lnSpc>
              <a:buNone/>
            </a:pPr>
            <a:r>
              <a:rPr lang="en-US" sz="1050" dirty="0">
                <a:solidFill>
                  <a:srgbClr val="F0F4F7"/>
                </a:solidFill>
                <a:latin typeface="Calibri" pitchFamily="34" charset="0"/>
                <a:ea typeface="Calibri" pitchFamily="34" charset="-122"/>
                <a:cs typeface="Calibri" pitchFamily="34" charset="-120"/>
              </a:rPr>
              <a:t>Business logic, approval rules, and REST APIs coordinating warehouses.</a:t>
            </a:r>
            <a:endParaRPr lang="en-US" sz="1050" dirty="0"/>
          </a:p>
        </p:txBody>
      </p:sp>
      <p:sp>
        <p:nvSpPr>
          <p:cNvPr id="15" name="Shape 11"/>
          <p:cNvSpPr/>
          <p:nvPr/>
        </p:nvSpPr>
        <p:spPr>
          <a:xfrm>
            <a:off x="548640" y="4453128"/>
            <a:ext cx="5349240" cy="1207008"/>
          </a:xfrm>
          <a:prstGeom prst="roundRect">
            <a:avLst>
              <a:gd name="adj" fmla="val 4545"/>
            </a:avLst>
          </a:prstGeom>
          <a:solidFill>
            <a:srgbClr val="14293D"/>
          </a:solidFill>
          <a:ln/>
        </p:spPr>
      </p:sp>
      <p:sp>
        <p:nvSpPr>
          <p:cNvPr id="16" name="Shape 12"/>
          <p:cNvSpPr/>
          <p:nvPr/>
        </p:nvSpPr>
        <p:spPr>
          <a:xfrm>
            <a:off x="713232" y="4773168"/>
            <a:ext cx="566928" cy="566928"/>
          </a:xfrm>
          <a:prstGeom prst="ellipse">
            <a:avLst/>
          </a:prstGeom>
          <a:solidFill>
            <a:srgbClr val="FFFFFF"/>
          </a:solidFill>
          <a:ln/>
        </p:spPr>
      </p:sp>
      <p:pic>
        <p:nvPicPr>
          <p:cNvPr id="17" name="Image 2" descr="/home/claude/icons/database_navy.png">    </p:cNvPr>
          <p:cNvPicPr>
            <a:picLocks noChangeAspect="1"/>
          </p:cNvPicPr>
          <p:nvPr/>
        </p:nvPicPr>
        <p:blipFill>
          <a:blip r:embed="rId3"/>
          <a:stretch>
            <a:fillRect/>
          </a:stretch>
        </p:blipFill>
        <p:spPr>
          <a:xfrm>
            <a:off x="854964" y="4914900"/>
            <a:ext cx="283464" cy="283464"/>
          </a:xfrm>
          <a:prstGeom prst="rect">
            <a:avLst/>
          </a:prstGeom>
        </p:spPr>
      </p:pic>
      <p:sp>
        <p:nvSpPr>
          <p:cNvPr id="18" name="Text 13"/>
          <p:cNvSpPr/>
          <p:nvPr/>
        </p:nvSpPr>
        <p:spPr>
          <a:xfrm>
            <a:off x="1463040" y="4581144"/>
            <a:ext cx="4434840" cy="292608"/>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Database Layer</a:t>
            </a:r>
            <a:endParaRPr lang="en-US" sz="1350" dirty="0"/>
          </a:p>
        </p:txBody>
      </p:sp>
      <p:sp>
        <p:nvSpPr>
          <p:cNvPr id="19" name="Text 14"/>
          <p:cNvSpPr/>
          <p:nvPr/>
        </p:nvSpPr>
        <p:spPr>
          <a:xfrm>
            <a:off x="1463040" y="4892040"/>
            <a:ext cx="4434840" cy="685800"/>
          </a:xfrm>
          <a:prstGeom prst="rect">
            <a:avLst/>
          </a:prstGeom>
          <a:noFill/>
          <a:ln/>
        </p:spPr>
        <p:txBody>
          <a:bodyPr wrap="square" rtlCol="0" anchor="ctr"/>
          <a:lstStyle/>
          <a:p>
            <a:pPr indent="0" marL="0">
              <a:lnSpc>
                <a:spcPts val="1300"/>
              </a:lnSpc>
              <a:buNone/>
            </a:pPr>
            <a:r>
              <a:rPr lang="en-US" sz="1050" dirty="0">
                <a:solidFill>
                  <a:srgbClr val="F0F4F7"/>
                </a:solidFill>
                <a:latin typeface="Calibri" pitchFamily="34" charset="0"/>
                <a:ea typeface="Calibri" pitchFamily="34" charset="-122"/>
                <a:cs typeface="Calibri" pitchFamily="34" charset="-120"/>
              </a:rPr>
              <a:t>Central relational database storing warehouses, products, and stock.</a:t>
            </a:r>
            <a:endParaRPr lang="en-US" sz="1050" dirty="0"/>
          </a:p>
        </p:txBody>
      </p:sp>
      <p:sp>
        <p:nvSpPr>
          <p:cNvPr id="20" name="Text 15"/>
          <p:cNvSpPr/>
          <p:nvPr/>
        </p:nvSpPr>
        <p:spPr>
          <a:xfrm>
            <a:off x="6263640" y="1417320"/>
            <a:ext cx="5486400" cy="274320"/>
          </a:xfrm>
          <a:prstGeom prst="rect">
            <a:avLst/>
          </a:prstGeom>
          <a:noFill/>
          <a:ln/>
        </p:spPr>
        <p:txBody>
          <a:bodyPr wrap="square" rtlCol="0" anchor="ctr"/>
          <a:lstStyle/>
          <a:p>
            <a:pPr indent="0" marL="0">
              <a:buNone/>
            </a:pPr>
            <a:r>
              <a:rPr lang="en-US" sz="1150" b="1" spc="100" kern="0" dirty="0">
                <a:solidFill>
                  <a:srgbClr val="14293D"/>
                </a:solidFill>
                <a:latin typeface="Calibri" pitchFamily="34" charset="0"/>
                <a:ea typeface="Calibri" pitchFamily="34" charset="-122"/>
                <a:cs typeface="Calibri" pitchFamily="34" charset="-120"/>
              </a:rPr>
              <a:t>CORE DATABASE ENTITIES</a:t>
            </a:r>
            <a:endParaRPr lang="en-US" sz="1150" dirty="0"/>
          </a:p>
        </p:txBody>
      </p:sp>
      <p:sp>
        <p:nvSpPr>
          <p:cNvPr id="21" name="Shape 16"/>
          <p:cNvSpPr/>
          <p:nvPr/>
        </p:nvSpPr>
        <p:spPr>
          <a:xfrm>
            <a:off x="6263640" y="1783080"/>
            <a:ext cx="2651760" cy="1170432"/>
          </a:xfrm>
          <a:prstGeom prst="roundRect">
            <a:avLst>
              <a:gd name="adj" fmla="val 3906"/>
            </a:avLst>
          </a:prstGeom>
          <a:solidFill>
            <a:srgbClr val="FFFFFF"/>
          </a:solidFill>
          <a:ln w="13970">
            <a:solidFill>
              <a:srgbClr val="1B7A8C"/>
            </a:solidFill>
            <a:prstDash val="solid"/>
          </a:ln>
        </p:spPr>
      </p:sp>
      <p:sp>
        <p:nvSpPr>
          <p:cNvPr id="22" name="Shape 17"/>
          <p:cNvSpPr/>
          <p:nvPr/>
        </p:nvSpPr>
        <p:spPr>
          <a:xfrm>
            <a:off x="6263640" y="1783080"/>
            <a:ext cx="2651760" cy="329184"/>
          </a:xfrm>
          <a:prstGeom prst="roundRect">
            <a:avLst>
              <a:gd name="adj" fmla="val 13889"/>
            </a:avLst>
          </a:prstGeom>
          <a:solidFill>
            <a:srgbClr val="1B7A8C"/>
          </a:solidFill>
          <a:ln/>
        </p:spPr>
      </p:sp>
      <p:sp>
        <p:nvSpPr>
          <p:cNvPr id="23" name="Text 18"/>
          <p:cNvSpPr/>
          <p:nvPr/>
        </p:nvSpPr>
        <p:spPr>
          <a:xfrm>
            <a:off x="6263640" y="1783080"/>
            <a:ext cx="2651760" cy="3291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WAREHOUSE</a:t>
            </a:r>
            <a:endParaRPr lang="en-US" sz="1050" dirty="0"/>
          </a:p>
        </p:txBody>
      </p:sp>
      <p:sp>
        <p:nvSpPr>
          <p:cNvPr id="24" name="Text 19"/>
          <p:cNvSpPr/>
          <p:nvPr/>
        </p:nvSpPr>
        <p:spPr>
          <a:xfrm>
            <a:off x="6400800" y="2167128"/>
            <a:ext cx="2377440" cy="713232"/>
          </a:xfrm>
          <a:prstGeom prst="rect">
            <a:avLst/>
          </a:prstGeom>
          <a:noFill/>
          <a:ln/>
        </p:spPr>
        <p:txBody>
          <a:bodyPr wrap="square" rtlCol="0" anchor="ctr"/>
          <a:lstStyle/>
          <a:p>
            <a:pPr indent="0" marL="0">
              <a:lnSpc>
                <a:spcPts val="1150"/>
              </a:lnSpc>
              <a:buNone/>
            </a:pPr>
            <a:r>
              <a:rPr lang="en-US" sz="900" dirty="0">
                <a:solidFill>
                  <a:srgbClr val="33424F"/>
                </a:solidFill>
                <a:latin typeface="Calibri" pitchFamily="34" charset="0"/>
                <a:ea typeface="Calibri" pitchFamily="34" charset="-122"/>
                <a:cs typeface="Calibri" pitchFamily="34" charset="-120"/>
              </a:rPr>
              <a:t>warehouse_id (PK), name, location</a:t>
            </a:r>
            <a:endParaRPr lang="en-US" sz="900" dirty="0"/>
          </a:p>
        </p:txBody>
      </p:sp>
      <p:sp>
        <p:nvSpPr>
          <p:cNvPr id="25" name="Shape 20"/>
          <p:cNvSpPr/>
          <p:nvPr/>
        </p:nvSpPr>
        <p:spPr>
          <a:xfrm>
            <a:off x="9189720" y="1783080"/>
            <a:ext cx="2651760" cy="1170432"/>
          </a:xfrm>
          <a:prstGeom prst="roundRect">
            <a:avLst>
              <a:gd name="adj" fmla="val 3906"/>
            </a:avLst>
          </a:prstGeom>
          <a:solidFill>
            <a:srgbClr val="FFFFFF"/>
          </a:solidFill>
          <a:ln w="13970">
            <a:solidFill>
              <a:srgbClr val="1B7A8C"/>
            </a:solidFill>
            <a:prstDash val="solid"/>
          </a:ln>
        </p:spPr>
      </p:sp>
      <p:sp>
        <p:nvSpPr>
          <p:cNvPr id="26" name="Shape 21"/>
          <p:cNvSpPr/>
          <p:nvPr/>
        </p:nvSpPr>
        <p:spPr>
          <a:xfrm>
            <a:off x="9189720" y="1783080"/>
            <a:ext cx="2651760" cy="329184"/>
          </a:xfrm>
          <a:prstGeom prst="roundRect">
            <a:avLst>
              <a:gd name="adj" fmla="val 13889"/>
            </a:avLst>
          </a:prstGeom>
          <a:solidFill>
            <a:srgbClr val="1B7A8C"/>
          </a:solidFill>
          <a:ln/>
        </p:spPr>
      </p:sp>
      <p:sp>
        <p:nvSpPr>
          <p:cNvPr id="27" name="Text 22"/>
          <p:cNvSpPr/>
          <p:nvPr/>
        </p:nvSpPr>
        <p:spPr>
          <a:xfrm>
            <a:off x="9189720" y="1783080"/>
            <a:ext cx="2651760" cy="3291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PRODUCT</a:t>
            </a:r>
            <a:endParaRPr lang="en-US" sz="1050" dirty="0"/>
          </a:p>
        </p:txBody>
      </p:sp>
      <p:sp>
        <p:nvSpPr>
          <p:cNvPr id="28" name="Text 23"/>
          <p:cNvSpPr/>
          <p:nvPr/>
        </p:nvSpPr>
        <p:spPr>
          <a:xfrm>
            <a:off x="9326880" y="2167128"/>
            <a:ext cx="2377440" cy="713232"/>
          </a:xfrm>
          <a:prstGeom prst="rect">
            <a:avLst/>
          </a:prstGeom>
          <a:noFill/>
          <a:ln/>
        </p:spPr>
        <p:txBody>
          <a:bodyPr wrap="square" rtlCol="0" anchor="ctr"/>
          <a:lstStyle/>
          <a:p>
            <a:pPr indent="0" marL="0">
              <a:lnSpc>
                <a:spcPts val="1150"/>
              </a:lnSpc>
              <a:buNone/>
            </a:pPr>
            <a:r>
              <a:rPr lang="en-US" sz="900" dirty="0">
                <a:solidFill>
                  <a:srgbClr val="33424F"/>
                </a:solidFill>
                <a:latin typeface="Calibri" pitchFamily="34" charset="0"/>
                <a:ea typeface="Calibri" pitchFamily="34" charset="-122"/>
                <a:cs typeface="Calibri" pitchFamily="34" charset="-120"/>
              </a:rPr>
              <a:t>product_id (PK), name, category</a:t>
            </a:r>
            <a:endParaRPr lang="en-US" sz="900" dirty="0"/>
          </a:p>
        </p:txBody>
      </p:sp>
      <p:sp>
        <p:nvSpPr>
          <p:cNvPr id="29" name="Shape 24"/>
          <p:cNvSpPr/>
          <p:nvPr/>
        </p:nvSpPr>
        <p:spPr>
          <a:xfrm>
            <a:off x="6263640" y="3977640"/>
            <a:ext cx="2651760" cy="1170432"/>
          </a:xfrm>
          <a:prstGeom prst="roundRect">
            <a:avLst>
              <a:gd name="adj" fmla="val 3906"/>
            </a:avLst>
          </a:prstGeom>
          <a:solidFill>
            <a:srgbClr val="FFFFFF"/>
          </a:solidFill>
          <a:ln w="13970">
            <a:solidFill>
              <a:srgbClr val="1B7A8C"/>
            </a:solidFill>
            <a:prstDash val="solid"/>
          </a:ln>
        </p:spPr>
      </p:sp>
      <p:sp>
        <p:nvSpPr>
          <p:cNvPr id="30" name="Shape 25"/>
          <p:cNvSpPr/>
          <p:nvPr/>
        </p:nvSpPr>
        <p:spPr>
          <a:xfrm>
            <a:off x="6263640" y="3977640"/>
            <a:ext cx="2651760" cy="329184"/>
          </a:xfrm>
          <a:prstGeom prst="roundRect">
            <a:avLst>
              <a:gd name="adj" fmla="val 13889"/>
            </a:avLst>
          </a:prstGeom>
          <a:solidFill>
            <a:srgbClr val="1B7A8C"/>
          </a:solidFill>
          <a:ln/>
        </p:spPr>
      </p:sp>
      <p:sp>
        <p:nvSpPr>
          <p:cNvPr id="31" name="Text 26"/>
          <p:cNvSpPr/>
          <p:nvPr/>
        </p:nvSpPr>
        <p:spPr>
          <a:xfrm>
            <a:off x="6263640" y="3977640"/>
            <a:ext cx="2651760" cy="3291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STOCK</a:t>
            </a:r>
            <a:endParaRPr lang="en-US" sz="1050" dirty="0"/>
          </a:p>
        </p:txBody>
      </p:sp>
      <p:sp>
        <p:nvSpPr>
          <p:cNvPr id="32" name="Text 27"/>
          <p:cNvSpPr/>
          <p:nvPr/>
        </p:nvSpPr>
        <p:spPr>
          <a:xfrm>
            <a:off x="6400800" y="4361688"/>
            <a:ext cx="2377440" cy="713232"/>
          </a:xfrm>
          <a:prstGeom prst="rect">
            <a:avLst/>
          </a:prstGeom>
          <a:noFill/>
          <a:ln/>
        </p:spPr>
        <p:txBody>
          <a:bodyPr wrap="square" rtlCol="0" anchor="ctr"/>
          <a:lstStyle/>
          <a:p>
            <a:pPr indent="0" marL="0">
              <a:lnSpc>
                <a:spcPts val="1150"/>
              </a:lnSpc>
              <a:buNone/>
            </a:pPr>
            <a:r>
              <a:rPr lang="en-US" sz="900" dirty="0">
                <a:solidFill>
                  <a:srgbClr val="33424F"/>
                </a:solidFill>
                <a:latin typeface="Calibri" pitchFamily="34" charset="0"/>
                <a:ea typeface="Calibri" pitchFamily="34" charset="-122"/>
                <a:cs typeface="Calibri" pitchFamily="34" charset="-120"/>
              </a:rPr>
              <a:t>stock_id (PK), warehouse_id (FK),</a:t>
            </a:r>
            <a:endParaRPr lang="en-US" sz="900" dirty="0"/>
          </a:p>
          <a:p>
            <a:pPr indent="0" marL="0">
              <a:lnSpc>
                <a:spcPts val="1150"/>
              </a:lnSpc>
              <a:buNone/>
            </a:pPr>
            <a:r>
              <a:rPr lang="en-US" sz="900" dirty="0">
                <a:solidFill>
                  <a:srgbClr val="33424F"/>
                </a:solidFill>
                <a:latin typeface="Calibri" pitchFamily="34" charset="0"/>
                <a:ea typeface="Calibri" pitchFamily="34" charset="-122"/>
                <a:cs typeface="Calibri" pitchFamily="34" charset="-120"/>
              </a:rPr>
              <a:t>product_id (FK), quantity</a:t>
            </a:r>
            <a:endParaRPr lang="en-US" sz="900" dirty="0"/>
          </a:p>
        </p:txBody>
      </p:sp>
      <p:sp>
        <p:nvSpPr>
          <p:cNvPr id="33" name="Shape 28"/>
          <p:cNvSpPr/>
          <p:nvPr/>
        </p:nvSpPr>
        <p:spPr>
          <a:xfrm>
            <a:off x="9189720" y="3977640"/>
            <a:ext cx="2651760" cy="1170432"/>
          </a:xfrm>
          <a:prstGeom prst="roundRect">
            <a:avLst>
              <a:gd name="adj" fmla="val 3906"/>
            </a:avLst>
          </a:prstGeom>
          <a:solidFill>
            <a:srgbClr val="FFFFFF"/>
          </a:solidFill>
          <a:ln w="13970">
            <a:solidFill>
              <a:srgbClr val="1B7A8C"/>
            </a:solidFill>
            <a:prstDash val="solid"/>
          </a:ln>
        </p:spPr>
      </p:sp>
      <p:sp>
        <p:nvSpPr>
          <p:cNvPr id="34" name="Shape 29"/>
          <p:cNvSpPr/>
          <p:nvPr/>
        </p:nvSpPr>
        <p:spPr>
          <a:xfrm>
            <a:off x="9189720" y="3977640"/>
            <a:ext cx="2651760" cy="329184"/>
          </a:xfrm>
          <a:prstGeom prst="roundRect">
            <a:avLst>
              <a:gd name="adj" fmla="val 13889"/>
            </a:avLst>
          </a:prstGeom>
          <a:solidFill>
            <a:srgbClr val="1B7A8C"/>
          </a:solidFill>
          <a:ln/>
        </p:spPr>
      </p:sp>
      <p:sp>
        <p:nvSpPr>
          <p:cNvPr id="35" name="Text 30"/>
          <p:cNvSpPr/>
          <p:nvPr/>
        </p:nvSpPr>
        <p:spPr>
          <a:xfrm>
            <a:off x="9189720" y="3977640"/>
            <a:ext cx="2651760" cy="3291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USER</a:t>
            </a:r>
            <a:endParaRPr lang="en-US" sz="1050" dirty="0"/>
          </a:p>
        </p:txBody>
      </p:sp>
      <p:sp>
        <p:nvSpPr>
          <p:cNvPr id="36" name="Text 31"/>
          <p:cNvSpPr/>
          <p:nvPr/>
        </p:nvSpPr>
        <p:spPr>
          <a:xfrm>
            <a:off x="9326880" y="4361688"/>
            <a:ext cx="2377440" cy="713232"/>
          </a:xfrm>
          <a:prstGeom prst="rect">
            <a:avLst/>
          </a:prstGeom>
          <a:noFill/>
          <a:ln/>
        </p:spPr>
        <p:txBody>
          <a:bodyPr wrap="square" rtlCol="0" anchor="ctr"/>
          <a:lstStyle/>
          <a:p>
            <a:pPr indent="0" marL="0">
              <a:lnSpc>
                <a:spcPts val="1150"/>
              </a:lnSpc>
              <a:buNone/>
            </a:pPr>
            <a:r>
              <a:rPr lang="en-US" sz="900" dirty="0">
                <a:solidFill>
                  <a:srgbClr val="33424F"/>
                </a:solidFill>
                <a:latin typeface="Calibri" pitchFamily="34" charset="0"/>
                <a:ea typeface="Calibri" pitchFamily="34" charset="-122"/>
                <a:cs typeface="Calibri" pitchFamily="34" charset="-120"/>
              </a:rPr>
              <a:t>user_id (PK), name, role,</a:t>
            </a:r>
            <a:endParaRPr lang="en-US" sz="900" dirty="0"/>
          </a:p>
          <a:p>
            <a:pPr indent="0" marL="0">
              <a:lnSpc>
                <a:spcPts val="1150"/>
              </a:lnSpc>
              <a:buNone/>
            </a:pPr>
            <a:r>
              <a:rPr lang="en-US" sz="900" dirty="0">
                <a:solidFill>
                  <a:srgbClr val="33424F"/>
                </a:solidFill>
                <a:latin typeface="Calibri" pitchFamily="34" charset="0"/>
                <a:ea typeface="Calibri" pitchFamily="34" charset="-122"/>
                <a:cs typeface="Calibri" pitchFamily="34" charset="-120"/>
              </a:rPr>
              <a:t>warehouse_id (FK)</a:t>
            </a:r>
            <a:endParaRPr lang="en-US" sz="900" dirty="0"/>
          </a:p>
        </p:txBody>
      </p:sp>
      <p:sp>
        <p:nvSpPr>
          <p:cNvPr id="37" name="Shape 32"/>
          <p:cNvSpPr/>
          <p:nvPr/>
        </p:nvSpPr>
        <p:spPr>
          <a:xfrm>
            <a:off x="7886700" y="2999232"/>
            <a:ext cx="2331720" cy="1051560"/>
          </a:xfrm>
          <a:prstGeom prst="roundRect">
            <a:avLst>
              <a:gd name="adj" fmla="val 4348"/>
            </a:avLst>
          </a:prstGeom>
          <a:solidFill>
            <a:srgbClr val="14293D"/>
          </a:solidFill>
          <a:ln/>
        </p:spPr>
      </p:sp>
      <p:sp>
        <p:nvSpPr>
          <p:cNvPr id="38" name="Shape 33"/>
          <p:cNvSpPr/>
          <p:nvPr/>
        </p:nvSpPr>
        <p:spPr>
          <a:xfrm>
            <a:off x="7886700" y="2999232"/>
            <a:ext cx="2331720" cy="292608"/>
          </a:xfrm>
          <a:prstGeom prst="roundRect">
            <a:avLst>
              <a:gd name="adj" fmla="val 15625"/>
            </a:avLst>
          </a:prstGeom>
          <a:solidFill>
            <a:srgbClr val="F2994A"/>
          </a:solidFill>
          <a:ln/>
        </p:spPr>
      </p:sp>
      <p:sp>
        <p:nvSpPr>
          <p:cNvPr id="39" name="Text 34"/>
          <p:cNvSpPr/>
          <p:nvPr/>
        </p:nvSpPr>
        <p:spPr>
          <a:xfrm>
            <a:off x="7886700" y="2999232"/>
            <a:ext cx="233172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STOCK_TRANSFER</a:t>
            </a:r>
            <a:endParaRPr lang="en-US" sz="950" dirty="0"/>
          </a:p>
        </p:txBody>
      </p:sp>
      <p:sp>
        <p:nvSpPr>
          <p:cNvPr id="40" name="Text 35"/>
          <p:cNvSpPr/>
          <p:nvPr/>
        </p:nvSpPr>
        <p:spPr>
          <a:xfrm>
            <a:off x="7996428" y="3328416"/>
            <a:ext cx="2112264" cy="685800"/>
          </a:xfrm>
          <a:prstGeom prst="rect">
            <a:avLst/>
          </a:prstGeom>
          <a:noFill/>
          <a:ln/>
        </p:spPr>
        <p:txBody>
          <a:bodyPr wrap="square" rtlCol="0" anchor="ctr"/>
          <a:lstStyle/>
          <a:p>
            <a:pPr indent="0" marL="0">
              <a:lnSpc>
                <a:spcPts val="1100"/>
              </a:lnSpc>
              <a:buNone/>
            </a:pPr>
            <a:r>
              <a:rPr lang="en-US" sz="850" dirty="0">
                <a:solidFill>
                  <a:srgbClr val="E8EEF4"/>
                </a:solidFill>
                <a:latin typeface="Calibri" pitchFamily="34" charset="0"/>
                <a:ea typeface="Calibri" pitchFamily="34" charset="-122"/>
                <a:cs typeface="Calibri" pitchFamily="34" charset="-120"/>
              </a:rPr>
              <a:t>transfer_id, source/dest_wh_id,</a:t>
            </a:r>
            <a:endParaRPr lang="en-US" sz="850" dirty="0"/>
          </a:p>
          <a:p>
            <a:pPr indent="0" marL="0">
              <a:lnSpc>
                <a:spcPts val="1100"/>
              </a:lnSpc>
              <a:buNone/>
            </a:pPr>
            <a:r>
              <a:rPr lang="en-US" sz="850" dirty="0">
                <a:solidFill>
                  <a:srgbClr val="E8EEF4"/>
                </a:solidFill>
                <a:latin typeface="Calibri" pitchFamily="34" charset="0"/>
                <a:ea typeface="Calibri" pitchFamily="34" charset="-122"/>
                <a:cs typeface="Calibri" pitchFamily="34" charset="-120"/>
              </a:rPr>
              <a:t>product_id, qty, status</a:t>
            </a:r>
            <a:endParaRPr lang="en-US" sz="850" dirty="0"/>
          </a:p>
        </p:txBody>
      </p:sp>
      <p:sp>
        <p:nvSpPr>
          <p:cNvPr id="41" name="Shape 36"/>
          <p:cNvSpPr/>
          <p:nvPr/>
        </p:nvSpPr>
        <p:spPr>
          <a:xfrm>
            <a:off x="8915400" y="2368296"/>
            <a:ext cx="-1028700" cy="996696"/>
          </a:xfrm>
          <a:prstGeom prst="line">
            <a:avLst/>
          </a:prstGeom>
          <a:noFill/>
          <a:ln w="15875">
            <a:solidFill>
              <a:srgbClr val="5A6B78"/>
            </a:solidFill>
            <a:prstDash val="dash"/>
          </a:ln>
        </p:spPr>
      </p:sp>
      <p:sp>
        <p:nvSpPr>
          <p:cNvPr id="42" name="Shape 37"/>
          <p:cNvSpPr/>
          <p:nvPr/>
        </p:nvSpPr>
        <p:spPr>
          <a:xfrm>
            <a:off x="10218420" y="3364992"/>
            <a:ext cx="-1028700" cy="-996696"/>
          </a:xfrm>
          <a:prstGeom prst="line">
            <a:avLst/>
          </a:prstGeom>
          <a:noFill/>
          <a:ln w="15875">
            <a:solidFill>
              <a:srgbClr val="5A6B78"/>
            </a:solidFill>
            <a:prstDash val="dash"/>
          </a:ln>
        </p:spPr>
      </p:sp>
      <p:sp>
        <p:nvSpPr>
          <p:cNvPr id="43" name="Shape 38"/>
          <p:cNvSpPr/>
          <p:nvPr/>
        </p:nvSpPr>
        <p:spPr>
          <a:xfrm flipV="1">
            <a:off x="8915400" y="3685032"/>
            <a:ext cx="-1028700" cy="877824"/>
          </a:xfrm>
          <a:prstGeom prst="line">
            <a:avLst/>
          </a:prstGeom>
          <a:noFill/>
          <a:ln w="15875">
            <a:solidFill>
              <a:srgbClr val="5A6B78"/>
            </a:solidFill>
            <a:prstDash val="dash"/>
          </a:ln>
        </p:spPr>
      </p:sp>
      <p:sp>
        <p:nvSpPr>
          <p:cNvPr id="44" name="Shape 39"/>
          <p:cNvSpPr/>
          <p:nvPr/>
        </p:nvSpPr>
        <p:spPr>
          <a:xfrm flipV="1">
            <a:off x="10218420" y="4562856"/>
            <a:ext cx="-1028700" cy="-877824"/>
          </a:xfrm>
          <a:prstGeom prst="line">
            <a:avLst/>
          </a:prstGeom>
          <a:noFill/>
          <a:ln w="15875">
            <a:solidFill>
              <a:srgbClr val="5A6B78"/>
            </a:solidFill>
            <a:prstDash val="dash"/>
          </a:ln>
        </p:spPr>
      </p:sp>
      <p:sp>
        <p:nvSpPr>
          <p:cNvPr id="45" name="Text 40"/>
          <p:cNvSpPr/>
          <p:nvPr/>
        </p:nvSpPr>
        <p:spPr>
          <a:xfrm>
            <a:off x="457200" y="6565392"/>
            <a:ext cx="7315200" cy="256032"/>
          </a:xfrm>
          <a:prstGeom prst="rect">
            <a:avLst/>
          </a:prstGeom>
          <a:noFill/>
          <a:ln/>
        </p:spPr>
        <p:txBody>
          <a:bodyPr wrap="square" rtlCol="0" anchor="ctr"/>
          <a:lstStyle/>
          <a:p>
            <a:pPr algn="l" indent="0" marL="0">
              <a:buNone/>
            </a:pPr>
            <a:r>
              <a:rPr lang="en-US" sz="900" dirty="0">
                <a:solidFill>
                  <a:srgbClr val="5A6B78"/>
                </a:solidFill>
                <a:latin typeface="Calibri" pitchFamily="34" charset="0"/>
                <a:ea typeface="Calibri" pitchFamily="34" charset="-122"/>
                <a:cs typeface="Calibri" pitchFamily="34" charset="-120"/>
              </a:rPr>
              <a:t>Multi-Warehouse Stock Transfer DBMS</a:t>
            </a:r>
            <a:endParaRPr lang="en-US" sz="900" dirty="0"/>
          </a:p>
        </p:txBody>
      </p:sp>
      <p:sp>
        <p:nvSpPr>
          <p:cNvPr id="46" name="Text 41"/>
          <p:cNvSpPr/>
          <p:nvPr/>
        </p:nvSpPr>
        <p:spPr>
          <a:xfrm>
            <a:off x="11521440" y="6565392"/>
            <a:ext cx="365760" cy="256032"/>
          </a:xfrm>
          <a:prstGeom prst="rect">
            <a:avLst/>
          </a:prstGeom>
          <a:noFill/>
          <a:ln/>
        </p:spPr>
        <p:txBody>
          <a:bodyPr wrap="square"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1B7A8C"/>
                </a:solidFill>
                <a:latin typeface="Calibri" pitchFamily="34" charset="0"/>
                <a:ea typeface="Calibri" pitchFamily="34" charset="-122"/>
                <a:cs typeface="Calibri" pitchFamily="34" charset="-120"/>
              </a:rPr>
              <a:t>WORKFLOW &amp; IMPLEMENTATION</a:t>
            </a:r>
            <a:endParaRPr lang="en-US" sz="1200" dirty="0"/>
          </a:p>
        </p:txBody>
      </p:sp>
      <p:sp>
        <p:nvSpPr>
          <p:cNvPr id="3" name="Text 1"/>
          <p:cNvSpPr/>
          <p:nvPr/>
        </p:nvSpPr>
        <p:spPr>
          <a:xfrm>
            <a:off x="548640" y="658368"/>
            <a:ext cx="9601200" cy="548640"/>
          </a:xfrm>
          <a:prstGeom prst="rect">
            <a:avLst/>
          </a:prstGeom>
          <a:noFill/>
          <a:ln/>
        </p:spPr>
        <p:txBody>
          <a:bodyPr wrap="square" rtlCol="0" anchor="ctr"/>
          <a:lstStyle/>
          <a:p>
            <a:pPr indent="0" marL="0">
              <a:buNone/>
            </a:pPr>
            <a:r>
              <a:rPr lang="en-US" sz="2400" b="1" dirty="0">
                <a:solidFill>
                  <a:srgbClr val="14293D"/>
                </a:solidFill>
                <a:latin typeface="Cambria" pitchFamily="34" charset="0"/>
                <a:ea typeface="Cambria" pitchFamily="34" charset="-122"/>
                <a:cs typeface="Cambria" pitchFamily="34" charset="-120"/>
              </a:rPr>
              <a:t>Transfer Workflow &amp; Technology Stack</a:t>
            </a:r>
            <a:endParaRPr lang="en-US" sz="2400" dirty="0"/>
          </a:p>
        </p:txBody>
      </p:sp>
      <p:sp>
        <p:nvSpPr>
          <p:cNvPr id="4" name="Text 2"/>
          <p:cNvSpPr/>
          <p:nvPr/>
        </p:nvSpPr>
        <p:spPr>
          <a:xfrm>
            <a:off x="548640" y="1417320"/>
            <a:ext cx="5486400" cy="274320"/>
          </a:xfrm>
          <a:prstGeom prst="rect">
            <a:avLst/>
          </a:prstGeom>
          <a:noFill/>
          <a:ln/>
        </p:spPr>
        <p:txBody>
          <a:bodyPr wrap="square" rtlCol="0" anchor="ctr"/>
          <a:lstStyle/>
          <a:p>
            <a:pPr indent="0" marL="0">
              <a:buNone/>
            </a:pPr>
            <a:r>
              <a:rPr lang="en-US" sz="1150" b="1" spc="100" kern="0" dirty="0">
                <a:solidFill>
                  <a:srgbClr val="14293D"/>
                </a:solidFill>
                <a:latin typeface="Calibri" pitchFamily="34" charset="0"/>
                <a:ea typeface="Calibri" pitchFamily="34" charset="-122"/>
                <a:cs typeface="Calibri" pitchFamily="34" charset="-120"/>
              </a:rPr>
              <a:t>STOCK TRANSFER PROCESS</a:t>
            </a:r>
            <a:endParaRPr lang="en-US" sz="1150" dirty="0"/>
          </a:p>
        </p:txBody>
      </p:sp>
      <p:sp>
        <p:nvSpPr>
          <p:cNvPr id="5" name="Shape 3"/>
          <p:cNvSpPr/>
          <p:nvPr/>
        </p:nvSpPr>
        <p:spPr>
          <a:xfrm>
            <a:off x="923544" y="1828800"/>
            <a:ext cx="621792" cy="621792"/>
          </a:xfrm>
          <a:prstGeom prst="ellipse">
            <a:avLst/>
          </a:prstGeom>
          <a:solidFill>
            <a:srgbClr val="14293D"/>
          </a:solidFill>
          <a:ln/>
        </p:spPr>
      </p:sp>
      <p:pic>
        <p:nvPicPr>
          <p:cNvPr id="6" name="Image 0" descr="/home/claude/icons/clipboard_white.png">    </p:cNvPr>
          <p:cNvPicPr>
            <a:picLocks noChangeAspect="1"/>
          </p:cNvPicPr>
          <p:nvPr/>
        </p:nvPicPr>
        <p:blipFill>
          <a:blip r:embed="rId1"/>
          <a:stretch>
            <a:fillRect/>
          </a:stretch>
        </p:blipFill>
        <p:spPr>
          <a:xfrm>
            <a:off x="1078992" y="1984248"/>
            <a:ext cx="310896" cy="310896"/>
          </a:xfrm>
          <a:prstGeom prst="rect">
            <a:avLst/>
          </a:prstGeom>
        </p:spPr>
      </p:pic>
      <p:sp>
        <p:nvSpPr>
          <p:cNvPr id="7" name="Text 4"/>
          <p:cNvSpPr/>
          <p:nvPr/>
        </p:nvSpPr>
        <p:spPr>
          <a:xfrm>
            <a:off x="365760" y="2542032"/>
            <a:ext cx="1737360" cy="292608"/>
          </a:xfrm>
          <a:prstGeom prst="rect">
            <a:avLst/>
          </a:prstGeom>
          <a:noFill/>
          <a:ln/>
        </p:spPr>
        <p:txBody>
          <a:bodyPr wrap="square" rtlCol="0" anchor="ctr"/>
          <a:lstStyle/>
          <a:p>
            <a:pPr algn="ctr" indent="0" marL="0">
              <a:buNone/>
            </a:pPr>
            <a:r>
              <a:rPr lang="en-US" sz="1100" b="1" dirty="0">
                <a:solidFill>
                  <a:srgbClr val="14293D"/>
                </a:solidFill>
                <a:latin typeface="Calibri" pitchFamily="34" charset="0"/>
                <a:ea typeface="Calibri" pitchFamily="34" charset="-122"/>
                <a:cs typeface="Calibri" pitchFamily="34" charset="-120"/>
              </a:rPr>
              <a:t>Request</a:t>
            </a:r>
            <a:endParaRPr lang="en-US" sz="1100" dirty="0"/>
          </a:p>
        </p:txBody>
      </p:sp>
      <p:sp>
        <p:nvSpPr>
          <p:cNvPr id="8" name="Shape 5"/>
          <p:cNvSpPr/>
          <p:nvPr/>
        </p:nvSpPr>
        <p:spPr>
          <a:xfrm>
            <a:off x="1956816" y="2066544"/>
            <a:ext cx="985266" cy="164592"/>
          </a:xfrm>
          <a:prstGeom prst="rightArrow">
            <a:avLst/>
          </a:prstGeom>
          <a:solidFill>
            <a:srgbClr val="C7D3DB"/>
          </a:solidFill>
          <a:ln/>
        </p:spPr>
      </p:sp>
      <p:sp>
        <p:nvSpPr>
          <p:cNvPr id="9" name="Shape 6"/>
          <p:cNvSpPr/>
          <p:nvPr/>
        </p:nvSpPr>
        <p:spPr>
          <a:xfrm>
            <a:off x="3353562" y="1828800"/>
            <a:ext cx="621792" cy="621792"/>
          </a:xfrm>
          <a:prstGeom prst="ellipse">
            <a:avLst/>
          </a:prstGeom>
          <a:solidFill>
            <a:srgbClr val="14293D"/>
          </a:solidFill>
          <a:ln/>
        </p:spPr>
      </p:sp>
      <p:pic>
        <p:nvPicPr>
          <p:cNvPr id="10" name="Image 1" descr="/home/claude/icons/check_white.png">    </p:cNvPr>
          <p:cNvPicPr>
            <a:picLocks noChangeAspect="1"/>
          </p:cNvPicPr>
          <p:nvPr/>
        </p:nvPicPr>
        <p:blipFill>
          <a:blip r:embed="rId2"/>
          <a:stretch>
            <a:fillRect/>
          </a:stretch>
        </p:blipFill>
        <p:spPr>
          <a:xfrm>
            <a:off x="3509010" y="1984248"/>
            <a:ext cx="310896" cy="310896"/>
          </a:xfrm>
          <a:prstGeom prst="rect">
            <a:avLst/>
          </a:prstGeom>
        </p:spPr>
      </p:pic>
      <p:sp>
        <p:nvSpPr>
          <p:cNvPr id="11" name="Text 7"/>
          <p:cNvSpPr/>
          <p:nvPr/>
        </p:nvSpPr>
        <p:spPr>
          <a:xfrm>
            <a:off x="2795778" y="2542032"/>
            <a:ext cx="1737360" cy="292608"/>
          </a:xfrm>
          <a:prstGeom prst="rect">
            <a:avLst/>
          </a:prstGeom>
          <a:noFill/>
          <a:ln/>
        </p:spPr>
        <p:txBody>
          <a:bodyPr wrap="square" rtlCol="0" anchor="ctr"/>
          <a:lstStyle/>
          <a:p>
            <a:pPr algn="ctr" indent="0" marL="0">
              <a:buNone/>
            </a:pPr>
            <a:r>
              <a:rPr lang="en-US" sz="1100" b="1" dirty="0">
                <a:solidFill>
                  <a:srgbClr val="14293D"/>
                </a:solidFill>
                <a:latin typeface="Calibri" pitchFamily="34" charset="0"/>
                <a:ea typeface="Calibri" pitchFamily="34" charset="-122"/>
                <a:cs typeface="Calibri" pitchFamily="34" charset="-120"/>
              </a:rPr>
              <a:t>Approval</a:t>
            </a:r>
            <a:endParaRPr lang="en-US" sz="1100" dirty="0"/>
          </a:p>
        </p:txBody>
      </p:sp>
      <p:sp>
        <p:nvSpPr>
          <p:cNvPr id="12" name="Shape 8"/>
          <p:cNvSpPr/>
          <p:nvPr/>
        </p:nvSpPr>
        <p:spPr>
          <a:xfrm>
            <a:off x="4386834" y="2066544"/>
            <a:ext cx="985266" cy="164592"/>
          </a:xfrm>
          <a:prstGeom prst="rightArrow">
            <a:avLst/>
          </a:prstGeom>
          <a:solidFill>
            <a:srgbClr val="C7D3DB"/>
          </a:solidFill>
          <a:ln/>
        </p:spPr>
      </p:sp>
      <p:sp>
        <p:nvSpPr>
          <p:cNvPr id="13" name="Shape 9"/>
          <p:cNvSpPr/>
          <p:nvPr/>
        </p:nvSpPr>
        <p:spPr>
          <a:xfrm>
            <a:off x="5783580" y="1828800"/>
            <a:ext cx="621792" cy="621792"/>
          </a:xfrm>
          <a:prstGeom prst="ellipse">
            <a:avLst/>
          </a:prstGeom>
          <a:solidFill>
            <a:srgbClr val="14293D"/>
          </a:solidFill>
          <a:ln/>
        </p:spPr>
      </p:sp>
      <p:pic>
        <p:nvPicPr>
          <p:cNvPr id="14" name="Image 2" descr="/home/claude/icons/box_white.png">    </p:cNvPr>
          <p:cNvPicPr>
            <a:picLocks noChangeAspect="1"/>
          </p:cNvPicPr>
          <p:nvPr/>
        </p:nvPicPr>
        <p:blipFill>
          <a:blip r:embed="rId3"/>
          <a:stretch>
            <a:fillRect/>
          </a:stretch>
        </p:blipFill>
        <p:spPr>
          <a:xfrm>
            <a:off x="5939028" y="1984248"/>
            <a:ext cx="310896" cy="310896"/>
          </a:xfrm>
          <a:prstGeom prst="rect">
            <a:avLst/>
          </a:prstGeom>
        </p:spPr>
      </p:pic>
      <p:sp>
        <p:nvSpPr>
          <p:cNvPr id="15" name="Text 10"/>
          <p:cNvSpPr/>
          <p:nvPr/>
        </p:nvSpPr>
        <p:spPr>
          <a:xfrm>
            <a:off x="5225796" y="2542032"/>
            <a:ext cx="1737360" cy="292608"/>
          </a:xfrm>
          <a:prstGeom prst="rect">
            <a:avLst/>
          </a:prstGeom>
          <a:noFill/>
          <a:ln/>
        </p:spPr>
        <p:txBody>
          <a:bodyPr wrap="square" rtlCol="0" anchor="ctr"/>
          <a:lstStyle/>
          <a:p>
            <a:pPr algn="ctr" indent="0" marL="0">
              <a:buNone/>
            </a:pPr>
            <a:r>
              <a:rPr lang="en-US" sz="1100" b="1" dirty="0">
                <a:solidFill>
                  <a:srgbClr val="14293D"/>
                </a:solidFill>
                <a:latin typeface="Calibri" pitchFamily="34" charset="0"/>
                <a:ea typeface="Calibri" pitchFamily="34" charset="-122"/>
                <a:cs typeface="Calibri" pitchFamily="34" charset="-120"/>
              </a:rPr>
              <a:t>Dispatch</a:t>
            </a:r>
            <a:endParaRPr lang="en-US" sz="1100" dirty="0"/>
          </a:p>
        </p:txBody>
      </p:sp>
      <p:sp>
        <p:nvSpPr>
          <p:cNvPr id="16" name="Shape 11"/>
          <p:cNvSpPr/>
          <p:nvPr/>
        </p:nvSpPr>
        <p:spPr>
          <a:xfrm>
            <a:off x="6816852" y="2066544"/>
            <a:ext cx="985266" cy="164592"/>
          </a:xfrm>
          <a:prstGeom prst="rightArrow">
            <a:avLst/>
          </a:prstGeom>
          <a:solidFill>
            <a:srgbClr val="C7D3DB"/>
          </a:solidFill>
          <a:ln/>
        </p:spPr>
      </p:sp>
      <p:sp>
        <p:nvSpPr>
          <p:cNvPr id="17" name="Shape 12"/>
          <p:cNvSpPr/>
          <p:nvPr/>
        </p:nvSpPr>
        <p:spPr>
          <a:xfrm>
            <a:off x="8213598" y="1828800"/>
            <a:ext cx="621792" cy="621792"/>
          </a:xfrm>
          <a:prstGeom prst="ellipse">
            <a:avLst/>
          </a:prstGeom>
          <a:solidFill>
            <a:srgbClr val="14293D"/>
          </a:solidFill>
          <a:ln/>
        </p:spPr>
      </p:sp>
      <p:pic>
        <p:nvPicPr>
          <p:cNvPr id="18" name="Image 3" descr="/home/claude/icons/truck_white.png">    </p:cNvPr>
          <p:cNvPicPr>
            <a:picLocks noChangeAspect="1"/>
          </p:cNvPicPr>
          <p:nvPr/>
        </p:nvPicPr>
        <p:blipFill>
          <a:blip r:embed="rId4"/>
          <a:stretch>
            <a:fillRect/>
          </a:stretch>
        </p:blipFill>
        <p:spPr>
          <a:xfrm>
            <a:off x="8369046" y="1984248"/>
            <a:ext cx="310896" cy="310896"/>
          </a:xfrm>
          <a:prstGeom prst="rect">
            <a:avLst/>
          </a:prstGeom>
        </p:spPr>
      </p:pic>
      <p:sp>
        <p:nvSpPr>
          <p:cNvPr id="19" name="Text 13"/>
          <p:cNvSpPr/>
          <p:nvPr/>
        </p:nvSpPr>
        <p:spPr>
          <a:xfrm>
            <a:off x="7655814" y="2542032"/>
            <a:ext cx="1737360" cy="292608"/>
          </a:xfrm>
          <a:prstGeom prst="rect">
            <a:avLst/>
          </a:prstGeom>
          <a:noFill/>
          <a:ln/>
        </p:spPr>
        <p:txBody>
          <a:bodyPr wrap="square" rtlCol="0" anchor="ctr"/>
          <a:lstStyle/>
          <a:p>
            <a:pPr algn="ctr" indent="0" marL="0">
              <a:buNone/>
            </a:pPr>
            <a:r>
              <a:rPr lang="en-US" sz="1100" b="1" dirty="0">
                <a:solidFill>
                  <a:srgbClr val="14293D"/>
                </a:solidFill>
                <a:latin typeface="Calibri" pitchFamily="34" charset="0"/>
                <a:ea typeface="Calibri" pitchFamily="34" charset="-122"/>
                <a:cs typeface="Calibri" pitchFamily="34" charset="-120"/>
              </a:rPr>
              <a:t>In Transit</a:t>
            </a:r>
            <a:endParaRPr lang="en-US" sz="1100" dirty="0"/>
          </a:p>
        </p:txBody>
      </p:sp>
      <p:sp>
        <p:nvSpPr>
          <p:cNvPr id="20" name="Shape 14"/>
          <p:cNvSpPr/>
          <p:nvPr/>
        </p:nvSpPr>
        <p:spPr>
          <a:xfrm>
            <a:off x="9246870" y="2066544"/>
            <a:ext cx="985266" cy="164592"/>
          </a:xfrm>
          <a:prstGeom prst="rightArrow">
            <a:avLst/>
          </a:prstGeom>
          <a:solidFill>
            <a:srgbClr val="C7D3DB"/>
          </a:solidFill>
          <a:ln/>
        </p:spPr>
      </p:sp>
      <p:sp>
        <p:nvSpPr>
          <p:cNvPr id="21" name="Shape 15"/>
          <p:cNvSpPr/>
          <p:nvPr/>
        </p:nvSpPr>
        <p:spPr>
          <a:xfrm>
            <a:off x="10643616" y="1828800"/>
            <a:ext cx="621792" cy="621792"/>
          </a:xfrm>
          <a:prstGeom prst="ellipse">
            <a:avLst/>
          </a:prstGeom>
          <a:solidFill>
            <a:srgbClr val="F2994A"/>
          </a:solidFill>
          <a:ln/>
        </p:spPr>
      </p:sp>
      <p:pic>
        <p:nvPicPr>
          <p:cNvPr id="22" name="Image 4" descr="/home/claude/icons/warehouse_white.png">    </p:cNvPr>
          <p:cNvPicPr>
            <a:picLocks noChangeAspect="1"/>
          </p:cNvPicPr>
          <p:nvPr/>
        </p:nvPicPr>
        <p:blipFill>
          <a:blip r:embed="rId5"/>
          <a:stretch>
            <a:fillRect/>
          </a:stretch>
        </p:blipFill>
        <p:spPr>
          <a:xfrm>
            <a:off x="10799064" y="1984248"/>
            <a:ext cx="310896" cy="310896"/>
          </a:xfrm>
          <a:prstGeom prst="rect">
            <a:avLst/>
          </a:prstGeom>
        </p:spPr>
      </p:pic>
      <p:sp>
        <p:nvSpPr>
          <p:cNvPr id="23" name="Text 16"/>
          <p:cNvSpPr/>
          <p:nvPr/>
        </p:nvSpPr>
        <p:spPr>
          <a:xfrm>
            <a:off x="10085832" y="2542032"/>
            <a:ext cx="1737360" cy="292608"/>
          </a:xfrm>
          <a:prstGeom prst="rect">
            <a:avLst/>
          </a:prstGeom>
          <a:noFill/>
          <a:ln/>
        </p:spPr>
        <p:txBody>
          <a:bodyPr wrap="square" rtlCol="0" anchor="ctr"/>
          <a:lstStyle/>
          <a:p>
            <a:pPr algn="ctr" indent="0" marL="0">
              <a:buNone/>
            </a:pPr>
            <a:r>
              <a:rPr lang="en-US" sz="1100" b="1" dirty="0">
                <a:solidFill>
                  <a:srgbClr val="14293D"/>
                </a:solidFill>
                <a:latin typeface="Calibri" pitchFamily="34" charset="0"/>
                <a:ea typeface="Calibri" pitchFamily="34" charset="-122"/>
                <a:cs typeface="Calibri" pitchFamily="34" charset="-120"/>
              </a:rPr>
              <a:t>Received</a:t>
            </a:r>
            <a:endParaRPr lang="en-US" sz="1100" dirty="0"/>
          </a:p>
        </p:txBody>
      </p:sp>
      <p:sp>
        <p:nvSpPr>
          <p:cNvPr id="24" name="Shape 17"/>
          <p:cNvSpPr/>
          <p:nvPr/>
        </p:nvSpPr>
        <p:spPr>
          <a:xfrm>
            <a:off x="548640" y="2880360"/>
            <a:ext cx="11091672" cy="502920"/>
          </a:xfrm>
          <a:prstGeom prst="roundRect">
            <a:avLst>
              <a:gd name="adj" fmla="val 9091"/>
            </a:avLst>
          </a:prstGeom>
          <a:solidFill>
            <a:srgbClr val="EAF1F4"/>
          </a:solidFill>
          <a:ln/>
        </p:spPr>
      </p:sp>
      <p:sp>
        <p:nvSpPr>
          <p:cNvPr id="25" name="Text 18"/>
          <p:cNvSpPr/>
          <p:nvPr/>
        </p:nvSpPr>
        <p:spPr>
          <a:xfrm>
            <a:off x="777240" y="2880360"/>
            <a:ext cx="10607040" cy="502920"/>
          </a:xfrm>
          <a:prstGeom prst="rect">
            <a:avLst/>
          </a:prstGeom>
          <a:noFill/>
          <a:ln/>
        </p:spPr>
        <p:txBody>
          <a:bodyPr wrap="square" rtlCol="0" anchor="ctr"/>
          <a:lstStyle/>
          <a:p>
            <a:pPr indent="0" marL="0">
              <a:buNone/>
            </a:pPr>
            <a:r>
              <a:rPr lang="en-US" sz="1100" i="1" dirty="0">
                <a:solidFill>
                  <a:srgbClr val="14293D"/>
                </a:solidFill>
                <a:latin typeface="Calibri" pitchFamily="34" charset="0"/>
                <a:ea typeface="Calibri" pitchFamily="34" charset="-122"/>
                <a:cs typeface="Calibri" pitchFamily="34" charset="-120"/>
              </a:rPr>
              <a:t>Every transition is a database transaction, so stock quantities never fall out of sync between source and destination warehouses.</a:t>
            </a:r>
            <a:endParaRPr lang="en-US" sz="1100" dirty="0"/>
          </a:p>
        </p:txBody>
      </p:sp>
      <p:sp>
        <p:nvSpPr>
          <p:cNvPr id="26" name="Text 19"/>
          <p:cNvSpPr/>
          <p:nvPr/>
        </p:nvSpPr>
        <p:spPr>
          <a:xfrm>
            <a:off x="548640" y="3611880"/>
            <a:ext cx="5486400" cy="274320"/>
          </a:xfrm>
          <a:prstGeom prst="rect">
            <a:avLst/>
          </a:prstGeom>
          <a:noFill/>
          <a:ln/>
        </p:spPr>
        <p:txBody>
          <a:bodyPr wrap="square" rtlCol="0" anchor="ctr"/>
          <a:lstStyle/>
          <a:p>
            <a:pPr indent="0" marL="0">
              <a:buNone/>
            </a:pPr>
            <a:r>
              <a:rPr lang="en-US" sz="1150" b="1" spc="100" kern="0" dirty="0">
                <a:solidFill>
                  <a:srgbClr val="14293D"/>
                </a:solidFill>
                <a:latin typeface="Calibri" pitchFamily="34" charset="0"/>
                <a:ea typeface="Calibri" pitchFamily="34" charset="-122"/>
                <a:cs typeface="Calibri" pitchFamily="34" charset="-120"/>
              </a:rPr>
              <a:t>TECHNOLOGY STACK</a:t>
            </a:r>
            <a:endParaRPr lang="en-US" sz="1150" dirty="0"/>
          </a:p>
        </p:txBody>
      </p:sp>
      <p:sp>
        <p:nvSpPr>
          <p:cNvPr id="27" name="Shape 20"/>
          <p:cNvSpPr/>
          <p:nvPr/>
        </p:nvSpPr>
        <p:spPr>
          <a:xfrm>
            <a:off x="548640" y="3977640"/>
            <a:ext cx="2121408" cy="1691640"/>
          </a:xfrm>
          <a:prstGeom prst="roundRect">
            <a:avLst>
              <a:gd name="adj" fmla="val 3243"/>
            </a:avLst>
          </a:prstGeom>
          <a:solidFill>
            <a:srgbClr val="FFFFFF"/>
          </a:solidFill>
          <a:ln w="12700">
            <a:solidFill>
              <a:srgbClr val="E2E8ED"/>
            </a:solidFill>
            <a:prstDash val="solid"/>
          </a:ln>
          <a:effectLst>
            <a:outerShdw sx="100000" sy="100000" kx="0" ky="0" algn="bl" rotWithShape="0" blurRad="63500" dist="25400" dir="5400000">
              <a:srgbClr val="1F3F5C">
                <a:alpha val="10000"/>
              </a:srgbClr>
            </a:outerShdw>
          </a:effectLst>
        </p:spPr>
      </p:sp>
      <p:sp>
        <p:nvSpPr>
          <p:cNvPr id="28" name="Shape 21"/>
          <p:cNvSpPr/>
          <p:nvPr/>
        </p:nvSpPr>
        <p:spPr>
          <a:xfrm>
            <a:off x="1380744" y="4160520"/>
            <a:ext cx="457200" cy="457200"/>
          </a:xfrm>
          <a:prstGeom prst="ellipse">
            <a:avLst/>
          </a:prstGeom>
          <a:solidFill>
            <a:srgbClr val="EAF1F4"/>
          </a:solidFill>
          <a:ln/>
        </p:spPr>
      </p:sp>
      <p:pic>
        <p:nvPicPr>
          <p:cNvPr id="29" name="Image 5" descr="/home/claude/icons/database_teal.png">    </p:cNvPr>
          <p:cNvPicPr>
            <a:picLocks noChangeAspect="1"/>
          </p:cNvPicPr>
          <p:nvPr/>
        </p:nvPicPr>
        <p:blipFill>
          <a:blip r:embed="rId6"/>
          <a:stretch>
            <a:fillRect/>
          </a:stretch>
        </p:blipFill>
        <p:spPr>
          <a:xfrm>
            <a:off x="1483614" y="4263390"/>
            <a:ext cx="251460" cy="251460"/>
          </a:xfrm>
          <a:prstGeom prst="rect">
            <a:avLst/>
          </a:prstGeom>
        </p:spPr>
      </p:pic>
      <p:sp>
        <p:nvSpPr>
          <p:cNvPr id="30" name="Text 22"/>
          <p:cNvSpPr/>
          <p:nvPr/>
        </p:nvSpPr>
        <p:spPr>
          <a:xfrm>
            <a:off x="658368" y="4727448"/>
            <a:ext cx="1901952" cy="274320"/>
          </a:xfrm>
          <a:prstGeom prst="rect">
            <a:avLst/>
          </a:prstGeom>
          <a:noFill/>
          <a:ln/>
        </p:spPr>
        <p:txBody>
          <a:bodyPr wrap="square" rtlCol="0" anchor="ctr"/>
          <a:lstStyle/>
          <a:p>
            <a:pPr algn="ctr" indent="0" marL="0">
              <a:buNone/>
            </a:pPr>
            <a:r>
              <a:rPr lang="en-US" sz="1150" b="1" dirty="0">
                <a:solidFill>
                  <a:srgbClr val="14293D"/>
                </a:solidFill>
                <a:latin typeface="Cambria" pitchFamily="34" charset="0"/>
                <a:ea typeface="Cambria" pitchFamily="34" charset="-122"/>
                <a:cs typeface="Cambria" pitchFamily="34" charset="-120"/>
              </a:rPr>
              <a:t>Database Engine</a:t>
            </a:r>
            <a:endParaRPr lang="en-US" sz="1150" dirty="0"/>
          </a:p>
        </p:txBody>
      </p:sp>
      <p:sp>
        <p:nvSpPr>
          <p:cNvPr id="31" name="Text 23"/>
          <p:cNvSpPr/>
          <p:nvPr/>
        </p:nvSpPr>
        <p:spPr>
          <a:xfrm>
            <a:off x="676656" y="5001768"/>
            <a:ext cx="1865376" cy="594360"/>
          </a:xfrm>
          <a:prstGeom prst="rect">
            <a:avLst/>
          </a:prstGeom>
          <a:noFill/>
          <a:ln/>
        </p:spPr>
        <p:txBody>
          <a:bodyPr wrap="square" rtlCol="0" anchor="ctr"/>
          <a:lstStyle/>
          <a:p>
            <a:pPr algn="ctr" indent="0" marL="0">
              <a:lnSpc>
                <a:spcPts val="1200"/>
              </a:lnSpc>
              <a:buNone/>
            </a:pPr>
            <a:r>
              <a:rPr lang="en-US" sz="900" dirty="0">
                <a:solidFill>
                  <a:srgbClr val="5A6B78"/>
                </a:solidFill>
                <a:latin typeface="Calibri" pitchFamily="34" charset="0"/>
                <a:ea typeface="Calibri" pitchFamily="34" charset="-122"/>
                <a:cs typeface="Calibri" pitchFamily="34" charset="-120"/>
              </a:rPr>
              <a:t>MySQL / Oracle for schema, constraints &amp; transactions.</a:t>
            </a:r>
            <a:endParaRPr lang="en-US" sz="900" dirty="0"/>
          </a:p>
        </p:txBody>
      </p:sp>
      <p:sp>
        <p:nvSpPr>
          <p:cNvPr id="32" name="Shape 24"/>
          <p:cNvSpPr/>
          <p:nvPr/>
        </p:nvSpPr>
        <p:spPr>
          <a:xfrm>
            <a:off x="2807208" y="3977640"/>
            <a:ext cx="2121408" cy="1691640"/>
          </a:xfrm>
          <a:prstGeom prst="roundRect">
            <a:avLst>
              <a:gd name="adj" fmla="val 3243"/>
            </a:avLst>
          </a:prstGeom>
          <a:solidFill>
            <a:srgbClr val="FFFFFF"/>
          </a:solidFill>
          <a:ln w="12700">
            <a:solidFill>
              <a:srgbClr val="E2E8ED"/>
            </a:solidFill>
            <a:prstDash val="solid"/>
          </a:ln>
          <a:effectLst>
            <a:outerShdw sx="100000" sy="100000" kx="0" ky="0" algn="bl" rotWithShape="0" blurRad="63500" dist="25400" dir="5400000">
              <a:srgbClr val="1F3F5C">
                <a:alpha val="10000"/>
              </a:srgbClr>
            </a:outerShdw>
          </a:effectLst>
        </p:spPr>
      </p:sp>
      <p:sp>
        <p:nvSpPr>
          <p:cNvPr id="33" name="Shape 25"/>
          <p:cNvSpPr/>
          <p:nvPr/>
        </p:nvSpPr>
        <p:spPr>
          <a:xfrm>
            <a:off x="3639312" y="4160520"/>
            <a:ext cx="457200" cy="457200"/>
          </a:xfrm>
          <a:prstGeom prst="ellipse">
            <a:avLst/>
          </a:prstGeom>
          <a:solidFill>
            <a:srgbClr val="EAF1F4"/>
          </a:solidFill>
          <a:ln/>
        </p:spPr>
      </p:sp>
      <p:pic>
        <p:nvPicPr>
          <p:cNvPr id="34" name="Image 6" descr="/home/claude/icons/server_teal.png">    </p:cNvPr>
          <p:cNvPicPr>
            <a:picLocks noChangeAspect="1"/>
          </p:cNvPicPr>
          <p:nvPr/>
        </p:nvPicPr>
        <p:blipFill>
          <a:blip r:embed="rId7"/>
          <a:stretch>
            <a:fillRect/>
          </a:stretch>
        </p:blipFill>
        <p:spPr>
          <a:xfrm>
            <a:off x="3742182" y="4263390"/>
            <a:ext cx="251460" cy="251460"/>
          </a:xfrm>
          <a:prstGeom prst="rect">
            <a:avLst/>
          </a:prstGeom>
        </p:spPr>
      </p:pic>
      <p:sp>
        <p:nvSpPr>
          <p:cNvPr id="35" name="Text 26"/>
          <p:cNvSpPr/>
          <p:nvPr/>
        </p:nvSpPr>
        <p:spPr>
          <a:xfrm>
            <a:off x="2916936" y="4727448"/>
            <a:ext cx="1901952" cy="274320"/>
          </a:xfrm>
          <a:prstGeom prst="rect">
            <a:avLst/>
          </a:prstGeom>
          <a:noFill/>
          <a:ln/>
        </p:spPr>
        <p:txBody>
          <a:bodyPr wrap="square" rtlCol="0" anchor="ctr"/>
          <a:lstStyle/>
          <a:p>
            <a:pPr algn="ctr" indent="0" marL="0">
              <a:buNone/>
            </a:pPr>
            <a:r>
              <a:rPr lang="en-US" sz="1150" b="1" dirty="0">
                <a:solidFill>
                  <a:srgbClr val="14293D"/>
                </a:solidFill>
                <a:latin typeface="Cambria" pitchFamily="34" charset="0"/>
                <a:ea typeface="Cambria" pitchFamily="34" charset="-122"/>
                <a:cs typeface="Cambria" pitchFamily="34" charset="-120"/>
              </a:rPr>
              <a:t>Backend Services</a:t>
            </a:r>
            <a:endParaRPr lang="en-US" sz="1150" dirty="0"/>
          </a:p>
        </p:txBody>
      </p:sp>
      <p:sp>
        <p:nvSpPr>
          <p:cNvPr id="36" name="Text 27"/>
          <p:cNvSpPr/>
          <p:nvPr/>
        </p:nvSpPr>
        <p:spPr>
          <a:xfrm>
            <a:off x="2935224" y="5001768"/>
            <a:ext cx="1865376" cy="594360"/>
          </a:xfrm>
          <a:prstGeom prst="rect">
            <a:avLst/>
          </a:prstGeom>
          <a:noFill/>
          <a:ln/>
        </p:spPr>
        <p:txBody>
          <a:bodyPr wrap="square" rtlCol="0" anchor="ctr"/>
          <a:lstStyle/>
          <a:p>
            <a:pPr algn="ctr" indent="0" marL="0">
              <a:lnSpc>
                <a:spcPts val="1200"/>
              </a:lnSpc>
              <a:buNone/>
            </a:pPr>
            <a:r>
              <a:rPr lang="en-US" sz="900" dirty="0">
                <a:solidFill>
                  <a:srgbClr val="5A6B78"/>
                </a:solidFill>
                <a:latin typeface="Calibri" pitchFamily="34" charset="0"/>
                <a:ea typeface="Calibri" pitchFamily="34" charset="-122"/>
                <a:cs typeface="Calibri" pitchFamily="34" charset="-120"/>
              </a:rPr>
              <a:t>Java / Python REST APIs for transfer logic.</a:t>
            </a:r>
            <a:endParaRPr lang="en-US" sz="900" dirty="0"/>
          </a:p>
        </p:txBody>
      </p:sp>
      <p:sp>
        <p:nvSpPr>
          <p:cNvPr id="37" name="Shape 28"/>
          <p:cNvSpPr/>
          <p:nvPr/>
        </p:nvSpPr>
        <p:spPr>
          <a:xfrm>
            <a:off x="5065776" y="3977640"/>
            <a:ext cx="2121408" cy="1691640"/>
          </a:xfrm>
          <a:prstGeom prst="roundRect">
            <a:avLst>
              <a:gd name="adj" fmla="val 3243"/>
            </a:avLst>
          </a:prstGeom>
          <a:solidFill>
            <a:srgbClr val="FFFFFF"/>
          </a:solidFill>
          <a:ln w="12700">
            <a:solidFill>
              <a:srgbClr val="E2E8ED"/>
            </a:solidFill>
            <a:prstDash val="solid"/>
          </a:ln>
          <a:effectLst>
            <a:outerShdw sx="100000" sy="100000" kx="0" ky="0" algn="bl" rotWithShape="0" blurRad="63500" dist="25400" dir="5400000">
              <a:srgbClr val="1F3F5C">
                <a:alpha val="10000"/>
              </a:srgbClr>
            </a:outerShdw>
          </a:effectLst>
        </p:spPr>
      </p:sp>
      <p:sp>
        <p:nvSpPr>
          <p:cNvPr id="38" name="Shape 29"/>
          <p:cNvSpPr/>
          <p:nvPr/>
        </p:nvSpPr>
        <p:spPr>
          <a:xfrm>
            <a:off x="5897880" y="4160520"/>
            <a:ext cx="457200" cy="457200"/>
          </a:xfrm>
          <a:prstGeom prst="ellipse">
            <a:avLst/>
          </a:prstGeom>
          <a:solidFill>
            <a:srgbClr val="EAF1F4"/>
          </a:solidFill>
          <a:ln/>
        </p:spPr>
      </p:sp>
      <p:pic>
        <p:nvPicPr>
          <p:cNvPr id="39" name="Image 7" descr="/home/claude/icons/mobile_teal.png">    </p:cNvPr>
          <p:cNvPicPr>
            <a:picLocks noChangeAspect="1"/>
          </p:cNvPicPr>
          <p:nvPr/>
        </p:nvPicPr>
        <p:blipFill>
          <a:blip r:embed="rId8"/>
          <a:stretch>
            <a:fillRect/>
          </a:stretch>
        </p:blipFill>
        <p:spPr>
          <a:xfrm>
            <a:off x="6000750" y="4263390"/>
            <a:ext cx="251460" cy="251460"/>
          </a:xfrm>
          <a:prstGeom prst="rect">
            <a:avLst/>
          </a:prstGeom>
        </p:spPr>
      </p:pic>
      <p:sp>
        <p:nvSpPr>
          <p:cNvPr id="40" name="Text 30"/>
          <p:cNvSpPr/>
          <p:nvPr/>
        </p:nvSpPr>
        <p:spPr>
          <a:xfrm>
            <a:off x="5175504" y="4727448"/>
            <a:ext cx="1901952" cy="274320"/>
          </a:xfrm>
          <a:prstGeom prst="rect">
            <a:avLst/>
          </a:prstGeom>
          <a:noFill/>
          <a:ln/>
        </p:spPr>
        <p:txBody>
          <a:bodyPr wrap="square" rtlCol="0" anchor="ctr"/>
          <a:lstStyle/>
          <a:p>
            <a:pPr algn="ctr" indent="0" marL="0">
              <a:buNone/>
            </a:pPr>
            <a:r>
              <a:rPr lang="en-US" sz="1150" b="1" dirty="0">
                <a:solidFill>
                  <a:srgbClr val="14293D"/>
                </a:solidFill>
                <a:latin typeface="Cambria" pitchFamily="34" charset="0"/>
                <a:ea typeface="Cambria" pitchFamily="34" charset="-122"/>
                <a:cs typeface="Cambria" pitchFamily="34" charset="-120"/>
              </a:rPr>
              <a:t>Client Interfaces</a:t>
            </a:r>
            <a:endParaRPr lang="en-US" sz="1150" dirty="0"/>
          </a:p>
        </p:txBody>
      </p:sp>
      <p:sp>
        <p:nvSpPr>
          <p:cNvPr id="41" name="Text 31"/>
          <p:cNvSpPr/>
          <p:nvPr/>
        </p:nvSpPr>
        <p:spPr>
          <a:xfrm>
            <a:off x="5193792" y="5001768"/>
            <a:ext cx="1865376" cy="594360"/>
          </a:xfrm>
          <a:prstGeom prst="rect">
            <a:avLst/>
          </a:prstGeom>
          <a:noFill/>
          <a:ln/>
        </p:spPr>
        <p:txBody>
          <a:bodyPr wrap="square" rtlCol="0" anchor="ctr"/>
          <a:lstStyle/>
          <a:p>
            <a:pPr algn="ctr" indent="0" marL="0">
              <a:lnSpc>
                <a:spcPts val="1200"/>
              </a:lnSpc>
              <a:buNone/>
            </a:pPr>
            <a:r>
              <a:rPr lang="en-US" sz="900" dirty="0">
                <a:solidFill>
                  <a:srgbClr val="5A6B78"/>
                </a:solidFill>
                <a:latin typeface="Calibri" pitchFamily="34" charset="0"/>
                <a:ea typeface="Calibri" pitchFamily="34" charset="-122"/>
                <a:cs typeface="Calibri" pitchFamily="34" charset="-120"/>
              </a:rPr>
              <a:t>Web dashboard &amp; desktop terminals.</a:t>
            </a:r>
            <a:endParaRPr lang="en-US" sz="900" dirty="0"/>
          </a:p>
        </p:txBody>
      </p:sp>
      <p:sp>
        <p:nvSpPr>
          <p:cNvPr id="42" name="Shape 32"/>
          <p:cNvSpPr/>
          <p:nvPr/>
        </p:nvSpPr>
        <p:spPr>
          <a:xfrm>
            <a:off x="7324344" y="3977640"/>
            <a:ext cx="2121408" cy="1691640"/>
          </a:xfrm>
          <a:prstGeom prst="roundRect">
            <a:avLst>
              <a:gd name="adj" fmla="val 3243"/>
            </a:avLst>
          </a:prstGeom>
          <a:solidFill>
            <a:srgbClr val="FFFFFF"/>
          </a:solidFill>
          <a:ln w="12700">
            <a:solidFill>
              <a:srgbClr val="E2E8ED"/>
            </a:solidFill>
            <a:prstDash val="solid"/>
          </a:ln>
          <a:effectLst>
            <a:outerShdw sx="100000" sy="100000" kx="0" ky="0" algn="bl" rotWithShape="0" blurRad="63500" dist="25400" dir="5400000">
              <a:srgbClr val="1F3F5C">
                <a:alpha val="10000"/>
              </a:srgbClr>
            </a:outerShdw>
          </a:effectLst>
        </p:spPr>
      </p:sp>
      <p:sp>
        <p:nvSpPr>
          <p:cNvPr id="43" name="Shape 33"/>
          <p:cNvSpPr/>
          <p:nvPr/>
        </p:nvSpPr>
        <p:spPr>
          <a:xfrm>
            <a:off x="8156448" y="4160520"/>
            <a:ext cx="457200" cy="457200"/>
          </a:xfrm>
          <a:prstGeom prst="ellipse">
            <a:avLst/>
          </a:prstGeom>
          <a:solidFill>
            <a:srgbClr val="EAF1F4"/>
          </a:solidFill>
          <a:ln/>
        </p:spPr>
      </p:sp>
      <p:pic>
        <p:nvPicPr>
          <p:cNvPr id="44" name="Image 8" descr="/home/claude/icons/barcode_teal.png">    </p:cNvPr>
          <p:cNvPicPr>
            <a:picLocks noChangeAspect="1"/>
          </p:cNvPicPr>
          <p:nvPr/>
        </p:nvPicPr>
        <p:blipFill>
          <a:blip r:embed="rId9"/>
          <a:stretch>
            <a:fillRect/>
          </a:stretch>
        </p:blipFill>
        <p:spPr>
          <a:xfrm>
            <a:off x="8259318" y="4263390"/>
            <a:ext cx="251460" cy="251460"/>
          </a:xfrm>
          <a:prstGeom prst="rect">
            <a:avLst/>
          </a:prstGeom>
        </p:spPr>
      </p:pic>
      <p:sp>
        <p:nvSpPr>
          <p:cNvPr id="45" name="Text 34"/>
          <p:cNvSpPr/>
          <p:nvPr/>
        </p:nvSpPr>
        <p:spPr>
          <a:xfrm>
            <a:off x="7434072" y="4727448"/>
            <a:ext cx="1901952" cy="274320"/>
          </a:xfrm>
          <a:prstGeom prst="rect">
            <a:avLst/>
          </a:prstGeom>
          <a:noFill/>
          <a:ln/>
        </p:spPr>
        <p:txBody>
          <a:bodyPr wrap="square" rtlCol="0" anchor="ctr"/>
          <a:lstStyle/>
          <a:p>
            <a:pPr algn="ctr" indent="0" marL="0">
              <a:buNone/>
            </a:pPr>
            <a:r>
              <a:rPr lang="en-US" sz="1150" b="1" dirty="0">
                <a:solidFill>
                  <a:srgbClr val="14293D"/>
                </a:solidFill>
                <a:latin typeface="Cambria" pitchFamily="34" charset="0"/>
                <a:ea typeface="Cambria" pitchFamily="34" charset="-122"/>
                <a:cs typeface="Cambria" pitchFamily="34" charset="-120"/>
              </a:rPr>
              <a:t>Data Capture</a:t>
            </a:r>
            <a:endParaRPr lang="en-US" sz="1150" dirty="0"/>
          </a:p>
        </p:txBody>
      </p:sp>
      <p:sp>
        <p:nvSpPr>
          <p:cNvPr id="46" name="Text 35"/>
          <p:cNvSpPr/>
          <p:nvPr/>
        </p:nvSpPr>
        <p:spPr>
          <a:xfrm>
            <a:off x="7452360" y="5001768"/>
            <a:ext cx="1865376" cy="594360"/>
          </a:xfrm>
          <a:prstGeom prst="rect">
            <a:avLst/>
          </a:prstGeom>
          <a:noFill/>
          <a:ln/>
        </p:spPr>
        <p:txBody>
          <a:bodyPr wrap="square" rtlCol="0" anchor="ctr"/>
          <a:lstStyle/>
          <a:p>
            <a:pPr algn="ctr" indent="0" marL="0">
              <a:lnSpc>
                <a:spcPts val="1200"/>
              </a:lnSpc>
              <a:buNone/>
            </a:pPr>
            <a:r>
              <a:rPr lang="en-US" sz="900" dirty="0">
                <a:solidFill>
                  <a:srgbClr val="5A6B78"/>
                </a:solidFill>
                <a:latin typeface="Calibri" pitchFamily="34" charset="0"/>
                <a:ea typeface="Calibri" pitchFamily="34" charset="-122"/>
                <a:cs typeface="Calibri" pitchFamily="34" charset="-120"/>
              </a:rPr>
              <a:t>Barcode scanning at dispatch &amp; receipt.</a:t>
            </a:r>
            <a:endParaRPr lang="en-US" sz="900" dirty="0"/>
          </a:p>
        </p:txBody>
      </p:sp>
      <p:sp>
        <p:nvSpPr>
          <p:cNvPr id="47" name="Shape 36"/>
          <p:cNvSpPr/>
          <p:nvPr/>
        </p:nvSpPr>
        <p:spPr>
          <a:xfrm>
            <a:off x="9582912" y="3977640"/>
            <a:ext cx="2121408" cy="1691640"/>
          </a:xfrm>
          <a:prstGeom prst="roundRect">
            <a:avLst>
              <a:gd name="adj" fmla="val 3243"/>
            </a:avLst>
          </a:prstGeom>
          <a:solidFill>
            <a:srgbClr val="FFFFFF"/>
          </a:solidFill>
          <a:ln w="12700">
            <a:solidFill>
              <a:srgbClr val="E2E8ED"/>
            </a:solidFill>
            <a:prstDash val="solid"/>
          </a:ln>
          <a:effectLst>
            <a:outerShdw sx="100000" sy="100000" kx="0" ky="0" algn="bl" rotWithShape="0" blurRad="63500" dist="25400" dir="5400000">
              <a:srgbClr val="1F3F5C">
                <a:alpha val="10000"/>
              </a:srgbClr>
            </a:outerShdw>
          </a:effectLst>
        </p:spPr>
      </p:sp>
      <p:sp>
        <p:nvSpPr>
          <p:cNvPr id="48" name="Shape 37"/>
          <p:cNvSpPr/>
          <p:nvPr/>
        </p:nvSpPr>
        <p:spPr>
          <a:xfrm>
            <a:off x="10415016" y="4160520"/>
            <a:ext cx="457200" cy="457200"/>
          </a:xfrm>
          <a:prstGeom prst="ellipse">
            <a:avLst/>
          </a:prstGeom>
          <a:solidFill>
            <a:srgbClr val="EAF1F4"/>
          </a:solidFill>
          <a:ln/>
        </p:spPr>
      </p:sp>
      <p:pic>
        <p:nvPicPr>
          <p:cNvPr id="49" name="Image 9" descr="/home/claude/icons/shield_teal.png">    </p:cNvPr>
          <p:cNvPicPr>
            <a:picLocks noChangeAspect="1"/>
          </p:cNvPicPr>
          <p:nvPr/>
        </p:nvPicPr>
        <p:blipFill>
          <a:blip r:embed="rId10"/>
          <a:stretch>
            <a:fillRect/>
          </a:stretch>
        </p:blipFill>
        <p:spPr>
          <a:xfrm>
            <a:off x="10517886" y="4263390"/>
            <a:ext cx="251460" cy="251460"/>
          </a:xfrm>
          <a:prstGeom prst="rect">
            <a:avLst/>
          </a:prstGeom>
        </p:spPr>
      </p:pic>
      <p:sp>
        <p:nvSpPr>
          <p:cNvPr id="50" name="Text 38"/>
          <p:cNvSpPr/>
          <p:nvPr/>
        </p:nvSpPr>
        <p:spPr>
          <a:xfrm>
            <a:off x="9692640" y="4727448"/>
            <a:ext cx="1901952" cy="274320"/>
          </a:xfrm>
          <a:prstGeom prst="rect">
            <a:avLst/>
          </a:prstGeom>
          <a:noFill/>
          <a:ln/>
        </p:spPr>
        <p:txBody>
          <a:bodyPr wrap="square" rtlCol="0" anchor="ctr"/>
          <a:lstStyle/>
          <a:p>
            <a:pPr algn="ctr" indent="0" marL="0">
              <a:buNone/>
            </a:pPr>
            <a:r>
              <a:rPr lang="en-US" sz="1150" b="1" dirty="0">
                <a:solidFill>
                  <a:srgbClr val="14293D"/>
                </a:solidFill>
                <a:latin typeface="Cambria" pitchFamily="34" charset="0"/>
                <a:ea typeface="Cambria" pitchFamily="34" charset="-122"/>
                <a:cs typeface="Cambria" pitchFamily="34" charset="-120"/>
              </a:rPr>
              <a:t>Access Control</a:t>
            </a:r>
            <a:endParaRPr lang="en-US" sz="1150" dirty="0"/>
          </a:p>
        </p:txBody>
      </p:sp>
      <p:sp>
        <p:nvSpPr>
          <p:cNvPr id="51" name="Text 39"/>
          <p:cNvSpPr/>
          <p:nvPr/>
        </p:nvSpPr>
        <p:spPr>
          <a:xfrm>
            <a:off x="9710928" y="5001768"/>
            <a:ext cx="1865376" cy="594360"/>
          </a:xfrm>
          <a:prstGeom prst="rect">
            <a:avLst/>
          </a:prstGeom>
          <a:noFill/>
          <a:ln/>
        </p:spPr>
        <p:txBody>
          <a:bodyPr wrap="square" rtlCol="0" anchor="ctr"/>
          <a:lstStyle/>
          <a:p>
            <a:pPr algn="ctr" indent="0" marL="0">
              <a:lnSpc>
                <a:spcPts val="1200"/>
              </a:lnSpc>
              <a:buNone/>
            </a:pPr>
            <a:r>
              <a:rPr lang="en-US" sz="900" dirty="0">
                <a:solidFill>
                  <a:srgbClr val="5A6B78"/>
                </a:solidFill>
                <a:latin typeface="Calibri" pitchFamily="34" charset="0"/>
                <a:ea typeface="Calibri" pitchFamily="34" charset="-122"/>
                <a:cs typeface="Calibri" pitchFamily="34" charset="-120"/>
              </a:rPr>
              <a:t>Role-based permissions for all users.</a:t>
            </a:r>
            <a:endParaRPr lang="en-US" sz="900" dirty="0"/>
          </a:p>
        </p:txBody>
      </p:sp>
      <p:sp>
        <p:nvSpPr>
          <p:cNvPr id="52" name="Text 40"/>
          <p:cNvSpPr/>
          <p:nvPr/>
        </p:nvSpPr>
        <p:spPr>
          <a:xfrm>
            <a:off x="457200" y="6565392"/>
            <a:ext cx="7315200" cy="256032"/>
          </a:xfrm>
          <a:prstGeom prst="rect">
            <a:avLst/>
          </a:prstGeom>
          <a:noFill/>
          <a:ln/>
        </p:spPr>
        <p:txBody>
          <a:bodyPr wrap="square" rtlCol="0" anchor="ctr"/>
          <a:lstStyle/>
          <a:p>
            <a:pPr algn="l" indent="0" marL="0">
              <a:buNone/>
            </a:pPr>
            <a:r>
              <a:rPr lang="en-US" sz="900" dirty="0">
                <a:solidFill>
                  <a:srgbClr val="5A6B78"/>
                </a:solidFill>
                <a:latin typeface="Calibri" pitchFamily="34" charset="0"/>
                <a:ea typeface="Calibri" pitchFamily="34" charset="-122"/>
                <a:cs typeface="Calibri" pitchFamily="34" charset="-120"/>
              </a:rPr>
              <a:t>Multi-Warehouse Stock Transfer DBMS</a:t>
            </a:r>
            <a:endParaRPr lang="en-US" sz="900" dirty="0"/>
          </a:p>
        </p:txBody>
      </p:sp>
      <p:sp>
        <p:nvSpPr>
          <p:cNvPr id="53" name="Text 41"/>
          <p:cNvSpPr/>
          <p:nvPr/>
        </p:nvSpPr>
        <p:spPr>
          <a:xfrm>
            <a:off x="11521440" y="6565392"/>
            <a:ext cx="365760" cy="256032"/>
          </a:xfrm>
          <a:prstGeom prst="rect">
            <a:avLst/>
          </a:prstGeom>
          <a:noFill/>
          <a:ln/>
        </p:spPr>
        <p:txBody>
          <a:bodyPr wrap="square"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93D"/>
        </a:solidFill>
      </p:bgPr>
    </p:bg>
    <p:spTree>
      <p:nvGrpSpPr>
        <p:cNvPr id="1" name=""/>
        <p:cNvGrpSpPr/>
        <p:nvPr/>
      </p:nvGrpSpPr>
      <p:grpSpPr>
        <a:xfrm>
          <a:off x="0" y="0"/>
          <a:ext cx="0" cy="0"/>
          <a:chOff x="0" y="0"/>
          <a:chExt cx="0" cy="0"/>
        </a:xfrm>
      </p:grpSpPr>
      <p:sp>
        <p:nvSpPr>
          <p:cNvPr id="2" name="Shape 0"/>
          <p:cNvSpPr/>
          <p:nvPr/>
        </p:nvSpPr>
        <p:spPr>
          <a:xfrm>
            <a:off x="10241280" y="5120640"/>
            <a:ext cx="3840480" cy="3840480"/>
          </a:xfrm>
          <a:prstGeom prst="ellipse">
            <a:avLst/>
          </a:prstGeom>
          <a:solidFill>
            <a:srgbClr val="1C3550"/>
          </a:solidFill>
          <a:ln/>
        </p:spPr>
      </p:sp>
      <p:sp>
        <p:nvSpPr>
          <p:cNvPr id="3" name="Text 1"/>
          <p:cNvSpPr/>
          <p:nvPr/>
        </p:nvSpPr>
        <p:spPr>
          <a:xfrm>
            <a:off x="548640" y="457200"/>
            <a:ext cx="5486400" cy="274320"/>
          </a:xfrm>
          <a:prstGeom prst="rect">
            <a:avLst/>
          </a:prstGeom>
          <a:noFill/>
          <a:ln/>
        </p:spPr>
        <p:txBody>
          <a:bodyPr wrap="square" rtlCol="0" anchor="ctr"/>
          <a:lstStyle/>
          <a:p>
            <a:pPr indent="0" marL="0">
              <a:buNone/>
            </a:pPr>
            <a:r>
              <a:rPr lang="en-US" sz="1200" b="1" spc="200" kern="0" dirty="0">
                <a:solidFill>
                  <a:srgbClr val="F2994A"/>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548640" y="777240"/>
            <a:ext cx="82296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Benefits &amp; Future Scope</a:t>
            </a:r>
            <a:endParaRPr lang="en-US" sz="2800" dirty="0"/>
          </a:p>
        </p:txBody>
      </p:sp>
      <p:sp>
        <p:nvSpPr>
          <p:cNvPr id="5" name="Text 3"/>
          <p:cNvSpPr/>
          <p:nvPr/>
        </p:nvSpPr>
        <p:spPr>
          <a:xfrm>
            <a:off x="548640" y="1691640"/>
            <a:ext cx="5029200" cy="320040"/>
          </a:xfrm>
          <a:prstGeom prst="rect">
            <a:avLst/>
          </a:prstGeom>
          <a:noFill/>
          <a:ln/>
        </p:spPr>
        <p:txBody>
          <a:bodyPr wrap="square" rtlCol="0" anchor="ctr"/>
          <a:lstStyle/>
          <a:p>
            <a:pPr indent="0" marL="0">
              <a:buNone/>
            </a:pPr>
            <a:r>
              <a:rPr lang="en-US" sz="1300" b="1" spc="150" kern="0" dirty="0">
                <a:solidFill>
                  <a:srgbClr val="1B7A8C"/>
                </a:solidFill>
                <a:latin typeface="Calibri" pitchFamily="34" charset="0"/>
                <a:ea typeface="Calibri" pitchFamily="34" charset="-122"/>
                <a:cs typeface="Calibri" pitchFamily="34" charset="-120"/>
              </a:rPr>
              <a:t>KEY BENEFITS</a:t>
            </a:r>
            <a:endParaRPr lang="en-US" sz="1300" dirty="0"/>
          </a:p>
        </p:txBody>
      </p:sp>
      <p:sp>
        <p:nvSpPr>
          <p:cNvPr id="6" name="Shape 4"/>
          <p:cNvSpPr/>
          <p:nvPr/>
        </p:nvSpPr>
        <p:spPr>
          <a:xfrm>
            <a:off x="548640" y="2103120"/>
            <a:ext cx="310896" cy="310896"/>
          </a:xfrm>
          <a:prstGeom prst="ellipse">
            <a:avLst/>
          </a:prstGeom>
          <a:solidFill>
            <a:srgbClr val="1F3F5C"/>
          </a:solidFill>
          <a:ln/>
        </p:spPr>
      </p:sp>
      <p:pic>
        <p:nvPicPr>
          <p:cNvPr id="7" name="Image 0" descr="/home/claude/icons/check_orange.png">    </p:cNvPr>
          <p:cNvPicPr>
            <a:picLocks noChangeAspect="1"/>
          </p:cNvPicPr>
          <p:nvPr/>
        </p:nvPicPr>
        <p:blipFill>
          <a:blip r:embed="rId1"/>
          <a:stretch>
            <a:fillRect/>
          </a:stretch>
        </p:blipFill>
        <p:spPr>
          <a:xfrm>
            <a:off x="603047" y="2157527"/>
            <a:ext cx="202082" cy="202082"/>
          </a:xfrm>
          <a:prstGeom prst="rect">
            <a:avLst/>
          </a:prstGeom>
        </p:spPr>
      </p:pic>
      <p:sp>
        <p:nvSpPr>
          <p:cNvPr id="8" name="Text 5"/>
          <p:cNvSpPr/>
          <p:nvPr/>
        </p:nvSpPr>
        <p:spPr>
          <a:xfrm>
            <a:off x="1051560" y="2075688"/>
            <a:ext cx="4663440" cy="457200"/>
          </a:xfrm>
          <a:prstGeom prst="rect">
            <a:avLst/>
          </a:prstGeom>
          <a:noFill/>
          <a:ln/>
        </p:spPr>
        <p:txBody>
          <a:bodyPr wrap="square" rtlCol="0" anchor="ctr"/>
          <a:lstStyle/>
          <a:p>
            <a:pPr indent="0" marL="0">
              <a:lnSpc>
                <a:spcPts val="1600"/>
              </a:lnSpc>
              <a:buNone/>
            </a:pPr>
            <a:r>
              <a:rPr lang="en-US" sz="1250" dirty="0">
                <a:solidFill>
                  <a:srgbClr val="E8EEF4"/>
                </a:solidFill>
                <a:latin typeface="Calibri" pitchFamily="34" charset="0"/>
                <a:ea typeface="Calibri" pitchFamily="34" charset="-122"/>
                <a:cs typeface="Calibri" pitchFamily="34" charset="-120"/>
              </a:rPr>
              <a:t>Single, consistent view of stock across every warehouse</a:t>
            </a:r>
            <a:endParaRPr lang="en-US" sz="1250" dirty="0"/>
          </a:p>
        </p:txBody>
      </p:sp>
      <p:sp>
        <p:nvSpPr>
          <p:cNvPr id="9" name="Shape 6"/>
          <p:cNvSpPr/>
          <p:nvPr/>
        </p:nvSpPr>
        <p:spPr>
          <a:xfrm>
            <a:off x="548640" y="2697480"/>
            <a:ext cx="310896" cy="310896"/>
          </a:xfrm>
          <a:prstGeom prst="ellipse">
            <a:avLst/>
          </a:prstGeom>
          <a:solidFill>
            <a:srgbClr val="1F3F5C"/>
          </a:solidFill>
          <a:ln/>
        </p:spPr>
      </p:sp>
      <p:pic>
        <p:nvPicPr>
          <p:cNvPr id="10" name="Image 1" descr="/home/claude/icons/check_orange.png">    </p:cNvPr>
          <p:cNvPicPr>
            <a:picLocks noChangeAspect="1"/>
          </p:cNvPicPr>
          <p:nvPr/>
        </p:nvPicPr>
        <p:blipFill>
          <a:blip r:embed="rId2"/>
          <a:stretch>
            <a:fillRect/>
          </a:stretch>
        </p:blipFill>
        <p:spPr>
          <a:xfrm>
            <a:off x="603047" y="2751887"/>
            <a:ext cx="202082" cy="202082"/>
          </a:xfrm>
          <a:prstGeom prst="rect">
            <a:avLst/>
          </a:prstGeom>
        </p:spPr>
      </p:pic>
      <p:sp>
        <p:nvSpPr>
          <p:cNvPr id="11" name="Text 7"/>
          <p:cNvSpPr/>
          <p:nvPr/>
        </p:nvSpPr>
        <p:spPr>
          <a:xfrm>
            <a:off x="1051560" y="2670048"/>
            <a:ext cx="4663440" cy="457200"/>
          </a:xfrm>
          <a:prstGeom prst="rect">
            <a:avLst/>
          </a:prstGeom>
          <a:noFill/>
          <a:ln/>
        </p:spPr>
        <p:txBody>
          <a:bodyPr wrap="square" rtlCol="0" anchor="ctr"/>
          <a:lstStyle/>
          <a:p>
            <a:pPr indent="0" marL="0">
              <a:lnSpc>
                <a:spcPts val="1600"/>
              </a:lnSpc>
              <a:buNone/>
            </a:pPr>
            <a:r>
              <a:rPr lang="en-US" sz="1250" dirty="0">
                <a:solidFill>
                  <a:srgbClr val="E8EEF4"/>
                </a:solidFill>
                <a:latin typeface="Calibri" pitchFamily="34" charset="0"/>
                <a:ea typeface="Calibri" pitchFamily="34" charset="-122"/>
                <a:cs typeface="Calibri" pitchFamily="34" charset="-120"/>
              </a:rPr>
              <a:t>Faster, auditable transfer approvals and dispatch</a:t>
            </a:r>
            <a:endParaRPr lang="en-US" sz="1250" dirty="0"/>
          </a:p>
        </p:txBody>
      </p:sp>
      <p:sp>
        <p:nvSpPr>
          <p:cNvPr id="12" name="Shape 8"/>
          <p:cNvSpPr/>
          <p:nvPr/>
        </p:nvSpPr>
        <p:spPr>
          <a:xfrm>
            <a:off x="548640" y="3291840"/>
            <a:ext cx="310896" cy="310896"/>
          </a:xfrm>
          <a:prstGeom prst="ellipse">
            <a:avLst/>
          </a:prstGeom>
          <a:solidFill>
            <a:srgbClr val="1F3F5C"/>
          </a:solidFill>
          <a:ln/>
        </p:spPr>
      </p:sp>
      <p:pic>
        <p:nvPicPr>
          <p:cNvPr id="13" name="Image 2" descr="/home/claude/icons/check_orange.png">    </p:cNvPr>
          <p:cNvPicPr>
            <a:picLocks noChangeAspect="1"/>
          </p:cNvPicPr>
          <p:nvPr/>
        </p:nvPicPr>
        <p:blipFill>
          <a:blip r:embed="rId3"/>
          <a:stretch>
            <a:fillRect/>
          </a:stretch>
        </p:blipFill>
        <p:spPr>
          <a:xfrm>
            <a:off x="603047" y="3346247"/>
            <a:ext cx="202082" cy="202082"/>
          </a:xfrm>
          <a:prstGeom prst="rect">
            <a:avLst/>
          </a:prstGeom>
        </p:spPr>
      </p:pic>
      <p:sp>
        <p:nvSpPr>
          <p:cNvPr id="14" name="Text 9"/>
          <p:cNvSpPr/>
          <p:nvPr/>
        </p:nvSpPr>
        <p:spPr>
          <a:xfrm>
            <a:off x="1051560" y="3264408"/>
            <a:ext cx="4663440" cy="457200"/>
          </a:xfrm>
          <a:prstGeom prst="rect">
            <a:avLst/>
          </a:prstGeom>
          <a:noFill/>
          <a:ln/>
        </p:spPr>
        <p:txBody>
          <a:bodyPr wrap="square" rtlCol="0" anchor="ctr"/>
          <a:lstStyle/>
          <a:p>
            <a:pPr indent="0" marL="0">
              <a:lnSpc>
                <a:spcPts val="1600"/>
              </a:lnSpc>
              <a:buNone/>
            </a:pPr>
            <a:r>
              <a:rPr lang="en-US" sz="1250" dirty="0">
                <a:solidFill>
                  <a:srgbClr val="E8EEF4"/>
                </a:solidFill>
                <a:latin typeface="Calibri" pitchFamily="34" charset="0"/>
                <a:ea typeface="Calibri" pitchFamily="34" charset="-122"/>
                <a:cs typeface="Calibri" pitchFamily="34" charset="-120"/>
              </a:rPr>
              <a:t>Fewer stockouts through accurate real-time quantities</a:t>
            </a:r>
            <a:endParaRPr lang="en-US" sz="1250" dirty="0"/>
          </a:p>
        </p:txBody>
      </p:sp>
      <p:sp>
        <p:nvSpPr>
          <p:cNvPr id="15" name="Shape 10"/>
          <p:cNvSpPr/>
          <p:nvPr/>
        </p:nvSpPr>
        <p:spPr>
          <a:xfrm>
            <a:off x="548640" y="3886200"/>
            <a:ext cx="310896" cy="310896"/>
          </a:xfrm>
          <a:prstGeom prst="ellipse">
            <a:avLst/>
          </a:prstGeom>
          <a:solidFill>
            <a:srgbClr val="1F3F5C"/>
          </a:solidFill>
          <a:ln/>
        </p:spPr>
      </p:sp>
      <p:pic>
        <p:nvPicPr>
          <p:cNvPr id="16" name="Image 3" descr="/home/claude/icons/check_orange.png">    </p:cNvPr>
          <p:cNvPicPr>
            <a:picLocks noChangeAspect="1"/>
          </p:cNvPicPr>
          <p:nvPr/>
        </p:nvPicPr>
        <p:blipFill>
          <a:blip r:embed="rId4"/>
          <a:stretch>
            <a:fillRect/>
          </a:stretch>
        </p:blipFill>
        <p:spPr>
          <a:xfrm>
            <a:off x="603047" y="3940607"/>
            <a:ext cx="202082" cy="202082"/>
          </a:xfrm>
          <a:prstGeom prst="rect">
            <a:avLst/>
          </a:prstGeom>
        </p:spPr>
      </p:pic>
      <p:sp>
        <p:nvSpPr>
          <p:cNvPr id="17" name="Text 11"/>
          <p:cNvSpPr/>
          <p:nvPr/>
        </p:nvSpPr>
        <p:spPr>
          <a:xfrm>
            <a:off x="1051560" y="3858768"/>
            <a:ext cx="4663440" cy="457200"/>
          </a:xfrm>
          <a:prstGeom prst="rect">
            <a:avLst/>
          </a:prstGeom>
          <a:noFill/>
          <a:ln/>
        </p:spPr>
        <p:txBody>
          <a:bodyPr wrap="square" rtlCol="0" anchor="ctr"/>
          <a:lstStyle/>
          <a:p>
            <a:pPr indent="0" marL="0">
              <a:lnSpc>
                <a:spcPts val="1600"/>
              </a:lnSpc>
              <a:buNone/>
            </a:pPr>
            <a:r>
              <a:rPr lang="en-US" sz="1250" dirty="0">
                <a:solidFill>
                  <a:srgbClr val="E8EEF4"/>
                </a:solidFill>
                <a:latin typeface="Calibri" pitchFamily="34" charset="0"/>
                <a:ea typeface="Calibri" pitchFamily="34" charset="-122"/>
                <a:cs typeface="Calibri" pitchFamily="34" charset="-120"/>
              </a:rPr>
              <a:t>Reliable reporting for demand and replenishment planning</a:t>
            </a:r>
            <a:endParaRPr lang="en-US" sz="1250" dirty="0"/>
          </a:p>
        </p:txBody>
      </p:sp>
      <p:sp>
        <p:nvSpPr>
          <p:cNvPr id="18" name="Shape 12"/>
          <p:cNvSpPr/>
          <p:nvPr/>
        </p:nvSpPr>
        <p:spPr>
          <a:xfrm>
            <a:off x="6080760" y="1737360"/>
            <a:ext cx="0" cy="4206240"/>
          </a:xfrm>
          <a:prstGeom prst="line">
            <a:avLst/>
          </a:prstGeom>
          <a:noFill/>
          <a:ln w="12700">
            <a:solidFill>
              <a:srgbClr val="2A4A66"/>
            </a:solidFill>
            <a:prstDash val="solid"/>
          </a:ln>
        </p:spPr>
      </p:sp>
      <p:sp>
        <p:nvSpPr>
          <p:cNvPr id="19" name="Text 13"/>
          <p:cNvSpPr/>
          <p:nvPr/>
        </p:nvSpPr>
        <p:spPr>
          <a:xfrm>
            <a:off x="6400800" y="1691640"/>
            <a:ext cx="5029200" cy="320040"/>
          </a:xfrm>
          <a:prstGeom prst="rect">
            <a:avLst/>
          </a:prstGeom>
          <a:noFill/>
          <a:ln/>
        </p:spPr>
        <p:txBody>
          <a:bodyPr wrap="square" rtlCol="0" anchor="ctr"/>
          <a:lstStyle/>
          <a:p>
            <a:pPr indent="0" marL="0">
              <a:buNone/>
            </a:pPr>
            <a:r>
              <a:rPr lang="en-US" sz="1300" b="1" spc="150" kern="0" dirty="0">
                <a:solidFill>
                  <a:srgbClr val="F2994A"/>
                </a:solidFill>
                <a:latin typeface="Calibri" pitchFamily="34" charset="0"/>
                <a:ea typeface="Calibri" pitchFamily="34" charset="-122"/>
                <a:cs typeface="Calibri" pitchFamily="34" charset="-120"/>
              </a:rPr>
              <a:t>FUTURE SCOPE</a:t>
            </a:r>
            <a:endParaRPr lang="en-US" sz="1300" dirty="0"/>
          </a:p>
        </p:txBody>
      </p:sp>
      <p:sp>
        <p:nvSpPr>
          <p:cNvPr id="20" name="Shape 14"/>
          <p:cNvSpPr/>
          <p:nvPr/>
        </p:nvSpPr>
        <p:spPr>
          <a:xfrm>
            <a:off x="6400800" y="2103120"/>
            <a:ext cx="457200" cy="457200"/>
          </a:xfrm>
          <a:prstGeom prst="ellipse">
            <a:avLst/>
          </a:prstGeom>
          <a:solidFill>
            <a:srgbClr val="1F3F5C"/>
          </a:solidFill>
          <a:ln/>
        </p:spPr>
      </p:sp>
      <p:pic>
        <p:nvPicPr>
          <p:cNvPr id="21" name="Image 4" descr="/home/claude/icons/barcode_orange.png">    </p:cNvPr>
          <p:cNvPicPr>
            <a:picLocks noChangeAspect="1"/>
          </p:cNvPicPr>
          <p:nvPr/>
        </p:nvPicPr>
        <p:blipFill>
          <a:blip r:embed="rId5"/>
          <a:stretch>
            <a:fillRect/>
          </a:stretch>
        </p:blipFill>
        <p:spPr>
          <a:xfrm>
            <a:off x="6503670" y="2205990"/>
            <a:ext cx="251460" cy="251460"/>
          </a:xfrm>
          <a:prstGeom prst="rect">
            <a:avLst/>
          </a:prstGeom>
        </p:spPr>
      </p:pic>
      <p:sp>
        <p:nvSpPr>
          <p:cNvPr id="22" name="Text 15"/>
          <p:cNvSpPr/>
          <p:nvPr/>
        </p:nvSpPr>
        <p:spPr>
          <a:xfrm>
            <a:off x="7040880" y="2084832"/>
            <a:ext cx="4572000" cy="548640"/>
          </a:xfrm>
          <a:prstGeom prst="rect">
            <a:avLst/>
          </a:prstGeom>
          <a:noFill/>
          <a:ln/>
        </p:spPr>
        <p:txBody>
          <a:bodyPr wrap="square" rtlCol="0" anchor="ctr"/>
          <a:lstStyle/>
          <a:p>
            <a:pPr indent="0" marL="0">
              <a:lnSpc>
                <a:spcPts val="1600"/>
              </a:lnSpc>
              <a:buNone/>
            </a:pPr>
            <a:r>
              <a:rPr lang="en-US" sz="1250" dirty="0">
                <a:solidFill>
                  <a:srgbClr val="E8EEF4"/>
                </a:solidFill>
                <a:latin typeface="Calibri" pitchFamily="34" charset="0"/>
                <a:ea typeface="Calibri" pitchFamily="34" charset="-122"/>
                <a:cs typeface="Calibri" pitchFamily="34" charset="-120"/>
              </a:rPr>
              <a:t>RFID / barcode integration for automatic stock capture</a:t>
            </a:r>
            <a:endParaRPr lang="en-US" sz="1250" dirty="0"/>
          </a:p>
        </p:txBody>
      </p:sp>
      <p:sp>
        <p:nvSpPr>
          <p:cNvPr id="23" name="Shape 16"/>
          <p:cNvSpPr/>
          <p:nvPr/>
        </p:nvSpPr>
        <p:spPr>
          <a:xfrm>
            <a:off x="6400800" y="2852928"/>
            <a:ext cx="457200" cy="457200"/>
          </a:xfrm>
          <a:prstGeom prst="ellipse">
            <a:avLst/>
          </a:prstGeom>
          <a:solidFill>
            <a:srgbClr val="1F3F5C"/>
          </a:solidFill>
          <a:ln/>
        </p:spPr>
      </p:sp>
      <p:pic>
        <p:nvPicPr>
          <p:cNvPr id="24" name="Image 5" descr="/home/claude/icons/mobile_orange.png">    </p:cNvPr>
          <p:cNvPicPr>
            <a:picLocks noChangeAspect="1"/>
          </p:cNvPicPr>
          <p:nvPr/>
        </p:nvPicPr>
        <p:blipFill>
          <a:blip r:embed="rId6"/>
          <a:stretch>
            <a:fillRect/>
          </a:stretch>
        </p:blipFill>
        <p:spPr>
          <a:xfrm>
            <a:off x="6503670" y="2955798"/>
            <a:ext cx="251460" cy="251460"/>
          </a:xfrm>
          <a:prstGeom prst="rect">
            <a:avLst/>
          </a:prstGeom>
        </p:spPr>
      </p:pic>
      <p:sp>
        <p:nvSpPr>
          <p:cNvPr id="25" name="Text 17"/>
          <p:cNvSpPr/>
          <p:nvPr/>
        </p:nvSpPr>
        <p:spPr>
          <a:xfrm>
            <a:off x="7040880" y="2834640"/>
            <a:ext cx="4572000" cy="548640"/>
          </a:xfrm>
          <a:prstGeom prst="rect">
            <a:avLst/>
          </a:prstGeom>
          <a:noFill/>
          <a:ln/>
        </p:spPr>
        <p:txBody>
          <a:bodyPr wrap="square" rtlCol="0" anchor="ctr"/>
          <a:lstStyle/>
          <a:p>
            <a:pPr indent="0" marL="0">
              <a:lnSpc>
                <a:spcPts val="1600"/>
              </a:lnSpc>
              <a:buNone/>
            </a:pPr>
            <a:r>
              <a:rPr lang="en-US" sz="1250" dirty="0">
                <a:solidFill>
                  <a:srgbClr val="E8EEF4"/>
                </a:solidFill>
                <a:latin typeface="Calibri" pitchFamily="34" charset="0"/>
                <a:ea typeface="Calibri" pitchFamily="34" charset="-122"/>
                <a:cs typeface="Calibri" pitchFamily="34" charset="-120"/>
              </a:rPr>
              <a:t>Mobile app for on-the-floor transfer approvals</a:t>
            </a:r>
            <a:endParaRPr lang="en-US" sz="1250" dirty="0"/>
          </a:p>
        </p:txBody>
      </p:sp>
      <p:sp>
        <p:nvSpPr>
          <p:cNvPr id="26" name="Shape 18"/>
          <p:cNvSpPr/>
          <p:nvPr/>
        </p:nvSpPr>
        <p:spPr>
          <a:xfrm>
            <a:off x="6400800" y="3602736"/>
            <a:ext cx="457200" cy="457200"/>
          </a:xfrm>
          <a:prstGeom prst="ellipse">
            <a:avLst/>
          </a:prstGeom>
          <a:solidFill>
            <a:srgbClr val="1F3F5C"/>
          </a:solidFill>
          <a:ln/>
        </p:spPr>
      </p:sp>
      <p:pic>
        <p:nvPicPr>
          <p:cNvPr id="27" name="Image 6" descr="/home/claude/icons/chart_orange.png">    </p:cNvPr>
          <p:cNvPicPr>
            <a:picLocks noChangeAspect="1"/>
          </p:cNvPicPr>
          <p:nvPr/>
        </p:nvPicPr>
        <p:blipFill>
          <a:blip r:embed="rId7"/>
          <a:stretch>
            <a:fillRect/>
          </a:stretch>
        </p:blipFill>
        <p:spPr>
          <a:xfrm>
            <a:off x="6503670" y="3705606"/>
            <a:ext cx="251460" cy="251460"/>
          </a:xfrm>
          <a:prstGeom prst="rect">
            <a:avLst/>
          </a:prstGeom>
        </p:spPr>
      </p:pic>
      <p:sp>
        <p:nvSpPr>
          <p:cNvPr id="28" name="Text 19"/>
          <p:cNvSpPr/>
          <p:nvPr/>
        </p:nvSpPr>
        <p:spPr>
          <a:xfrm>
            <a:off x="7040880" y="3584448"/>
            <a:ext cx="4572000" cy="548640"/>
          </a:xfrm>
          <a:prstGeom prst="rect">
            <a:avLst/>
          </a:prstGeom>
          <a:noFill/>
          <a:ln/>
        </p:spPr>
        <p:txBody>
          <a:bodyPr wrap="square" rtlCol="0" anchor="ctr"/>
          <a:lstStyle/>
          <a:p>
            <a:pPr indent="0" marL="0">
              <a:lnSpc>
                <a:spcPts val="1600"/>
              </a:lnSpc>
              <a:buNone/>
            </a:pPr>
            <a:r>
              <a:rPr lang="en-US" sz="1250" dirty="0">
                <a:solidFill>
                  <a:srgbClr val="E8EEF4"/>
                </a:solidFill>
                <a:latin typeface="Calibri" pitchFamily="34" charset="0"/>
                <a:ea typeface="Calibri" pitchFamily="34" charset="-122"/>
                <a:cs typeface="Calibri" pitchFamily="34" charset="-120"/>
              </a:rPr>
              <a:t>Predictive analytics to forecast inter-warehouse demand</a:t>
            </a:r>
            <a:endParaRPr lang="en-US" sz="1250" dirty="0"/>
          </a:p>
        </p:txBody>
      </p:sp>
      <p:sp>
        <p:nvSpPr>
          <p:cNvPr id="29" name="Shape 20"/>
          <p:cNvSpPr/>
          <p:nvPr/>
        </p:nvSpPr>
        <p:spPr>
          <a:xfrm>
            <a:off x="6400800" y="4352544"/>
            <a:ext cx="457200" cy="457200"/>
          </a:xfrm>
          <a:prstGeom prst="ellipse">
            <a:avLst/>
          </a:prstGeom>
          <a:solidFill>
            <a:srgbClr val="1F3F5C"/>
          </a:solidFill>
          <a:ln/>
        </p:spPr>
      </p:sp>
      <p:pic>
        <p:nvPicPr>
          <p:cNvPr id="30" name="Image 7" descr="/home/claude/icons/cloud_orange.png">    </p:cNvPr>
          <p:cNvPicPr>
            <a:picLocks noChangeAspect="1"/>
          </p:cNvPicPr>
          <p:nvPr/>
        </p:nvPicPr>
        <p:blipFill>
          <a:blip r:embed="rId8"/>
          <a:stretch>
            <a:fillRect/>
          </a:stretch>
        </p:blipFill>
        <p:spPr>
          <a:xfrm>
            <a:off x="6503670" y="4455414"/>
            <a:ext cx="251460" cy="251460"/>
          </a:xfrm>
          <a:prstGeom prst="rect">
            <a:avLst/>
          </a:prstGeom>
        </p:spPr>
      </p:pic>
      <p:sp>
        <p:nvSpPr>
          <p:cNvPr id="31" name="Text 21"/>
          <p:cNvSpPr/>
          <p:nvPr/>
        </p:nvSpPr>
        <p:spPr>
          <a:xfrm>
            <a:off x="7040880" y="4334256"/>
            <a:ext cx="4572000" cy="548640"/>
          </a:xfrm>
          <a:prstGeom prst="rect">
            <a:avLst/>
          </a:prstGeom>
          <a:noFill/>
          <a:ln/>
        </p:spPr>
        <p:txBody>
          <a:bodyPr wrap="square" rtlCol="0" anchor="ctr"/>
          <a:lstStyle/>
          <a:p>
            <a:pPr indent="0" marL="0">
              <a:lnSpc>
                <a:spcPts val="1600"/>
              </a:lnSpc>
              <a:buNone/>
            </a:pPr>
            <a:r>
              <a:rPr lang="en-US" sz="1250" dirty="0">
                <a:solidFill>
                  <a:srgbClr val="E8EEF4"/>
                </a:solidFill>
                <a:latin typeface="Calibri" pitchFamily="34" charset="0"/>
                <a:ea typeface="Calibri" pitchFamily="34" charset="-122"/>
                <a:cs typeface="Calibri" pitchFamily="34" charset="-120"/>
              </a:rPr>
              <a:t>Cloud deployment for multi-region scalability</a:t>
            </a:r>
            <a:endParaRPr lang="en-US" sz="1250" dirty="0"/>
          </a:p>
        </p:txBody>
      </p:sp>
      <p:sp>
        <p:nvSpPr>
          <p:cNvPr id="32" name="Text 22"/>
          <p:cNvSpPr/>
          <p:nvPr/>
        </p:nvSpPr>
        <p:spPr>
          <a:xfrm>
            <a:off x="548640" y="6172200"/>
            <a:ext cx="5486400" cy="45720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2026-09-02T05:46:28Z</dcterms:created>
  <dcterms:modified xsi:type="dcterms:W3CDTF">2026-09-02T05:46:28Z</dcterms:modified>
</cp:coreProperties>
</file>