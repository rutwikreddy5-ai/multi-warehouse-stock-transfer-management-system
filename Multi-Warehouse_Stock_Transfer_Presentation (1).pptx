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6794883-9d99-ccd2-e2ac-a15ee63ab6f2}">
          <p14:sldIdLst>
            <p14:sldId id="256"/>
            <p14:sldId id="257"/>
            <p14:sldId id="258"/>
          </p14:sldIdLst>
        </p14:section>
        <p14:section name="Design" id="{15630507-ca88-8200-8b33-df66aa459669}">
          <p14:sldIdLst>
            <p14:sldId id="259"/>
            <p14:sldId id="260"/>
            <p14:sldId id="261"/>
          </p14:sldIdLst>
        </p14:section>
        <p14:section name="Relational Schema" id="{9220ae36-114f-7233-c350-73a9cb9289e1}">
          <p14:sldIdLst>
            <p14:sldId id="262"/>
            <p14:sldId id="263"/>
          </p14:sldIdLst>
        </p14:section>
        <p14:section name="SQL Implementation" id="{105ede6d-c919-c733-c6f0-a5d1258a0c07}">
          <p14:sldIdLst>
            <p14:sldId id="264"/>
            <p14:sldId id="265"/>
            <p14:sldId id="266"/>
            <p14:sldId id="267"/>
          </p14:sldIdLst>
        </p14:section>
        <p14:section name="User Interface" id="{d11a6c65-078a-1ea6-80f7-5e9099517edc}">
          <p14:sldIdLst>
            <p14:sldId id="268"/>
            <p14:sldId id="269"/>
            <p14:sldId id="270"/>
            <p14:sldId id="271"/>
          </p14:sldIdLst>
        </p14:section>
        <p14:section name="Wrap-up" id="{ffe517cf-702c-388e-36ff-2ab3ef33c187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Wireless Mouse stock, TR-2025-0001 (80 units)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Delhi (source)</c:v>
                </c:pt>
              </c:strCache>
            </c:strRef>
          </c:tx>
          <c:spPr>
            <a:solidFill>
              <a:srgbClr val="E4405F"/>
            </a:solidFill>
            <a:ln w="38100" cap="flat">
              <a:solidFill>
                <a:srgbClr val="E440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4405F"/>
              </a:solidFill>
              <a:ln w="9525" cap="flat">
                <a:solidFill>
                  <a:srgbClr val="E440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Requested</c:v>
                  </c:pt>
                  <c:pt idx="1">
                    <c:v>Approved</c:v>
                  </c:pt>
                  <c:pt idx="2">
                    <c:v>Dispatched</c:v>
                  </c:pt>
                  <c:pt idx="3">
                    <c:v>Received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200</c:v>
                </c:pt>
                <c:pt idx="2">
                  <c:v>120</c:v>
                </c:pt>
                <c:pt idx="3">
                  <c:v>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Bengaluru (destination)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Requested</c:v>
                  </c:pt>
                  <c:pt idx="1">
                    <c:v>Approved</c:v>
                  </c:pt>
                  <c:pt idx="2">
                    <c:v>Dispatched</c:v>
                  </c:pt>
                  <c:pt idx="3">
                    <c:v>Received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6350" cap="flat">
              <a:solidFill>
                <a:srgbClr val="D0D7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6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A DBMS project: one MySQL database controlling stock transfers between warehouses.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transfers use phone calls, paper slips and spreadsheets. Nobody knows real stock or what is in transit. Right column maps each problem to what the system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objectives; the system covers the full transfer life cycle but not purchasing, billing or barcode scanning.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Three-tier: browser, Flask backend, MySQL. Backend checks session, role and input before running SQL. Four roles with different powers.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Stock only moves at Dispatch (leaves source) and Receive (enters destination), so goods in transit are never counted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entities. Two many-to-many relationships are resolved by associative tables: stock and transfer_items.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 = primary key, FK = foreign key. Master data: users, warehouses, categories, suppliers,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Transactional tables. stock_transfers has four user FKs (requester, approver, dispatcher, receiver) and two warehouse FKs.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DDL with constraints. CHECK prevents negative stock, UNIQUE prevents duplicate stock rows, foreign keys keep references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uses joins, Q7 GROUP BY with LEFT JOIN so empty warehouses still show, Q8 feeds the low-stock report and dashboard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first checks availability with Q1 for every item. If any item exceeds stock, nothing is inserted. Request and items are inserted in one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Dispatch deducts from source; receive adds to destination with ON DUPLICATE KEY UPDATE. FOR UPDATE plus the status guard stop double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from the running app: totals, inventory value, stock health and weekly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Warehouse and product management pages: add forms plus the list of registered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transfer page: create a transfer by warehouse IDs, product and quantity. History appears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transfer TR-2025-0001: Delhi to Bengaluru, 80 wireless mice. Source drops at dispatch, destination rises at receipt. Test results shown are the expected outcomes from Table 9.1.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layered: app checks plus database constraints. Be upfront about limitations: manual entry, no barcode, no partial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one source of truth, controlled lifecycle, transaction-safe updates, 3NF design. Then mention enhancements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Multi-Warehouse Stock Transfer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10" Type="http://schemas.openxmlformats.org/officeDocument/2006/relationships/image" Target="../media/ui_dash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10" Type="http://schemas.openxmlformats.org/officeDocument/2006/relationships/image" Target="../media/ui_wh.jpg"/><Relationship Id="rId11" Type="http://schemas.openxmlformats.org/officeDocument/2006/relationships/image" Target="../media/ui_prod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10" Type="http://schemas.openxmlformats.org/officeDocument/2006/relationships/image" Target="../media/ui_tr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Multi-Warehouse Stock Transfer Management System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DATABASE MANAGEMENT SYSTEM  |  PROJECT BASED 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web-based database application for controlled, transaction-safe stock transfers across warehouses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Rutwik Reddy  |  25WU0102231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B.Tech AIML (2025-29)  |  Section: Panthers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School of Technology, Woxsen University</a:t>
            </a:r>
            <a:endParaRPr lang="en-US" sz="1600" dirty="0"/>
          </a:p>
        </p:txBody>
      </p:sp>
      <p:sp>
        <p:nvSpPr>
          <p:cNvPr id="7" name="node WH-DEL"/>
          <p:cNvSpPr/>
          <p:nvPr/>
        </p:nvSpPr>
        <p:spPr>
          <a:xfrm>
            <a:off x="6858000" y="8229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WH-DEL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1828800"/>
            <a:ext cx="0" cy="3657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node WH-MUM"/>
          <p:cNvSpPr/>
          <p:nvPr/>
        </p:nvSpPr>
        <p:spPr>
          <a:xfrm>
            <a:off x="6858000" y="219456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WH-MUM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60920" y="3200400"/>
            <a:ext cx="0" cy="3657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3" name="node WH-BLR"/>
          <p:cNvSpPr/>
          <p:nvPr/>
        </p:nvSpPr>
        <p:spPr>
          <a:xfrm>
            <a:off x="6858000" y="356616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WH-BLR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&amp; Motivation</a:t>
            </a:r>
            <a:endParaRPr lang="en-US" sz="30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143000"/>
            <a:ext cx="3108960" cy="3429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problem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Manual transfer records give no reliable view of how much stock each warehouse holds, which transfers are pending or in transit, or who approved what.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 need: a central system that controls the whole transfer process and keeps quantities accurate automatically.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Manual problem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the system helps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Stock inaccuracies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Stock updated automatically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Delayed transfers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Online approval queue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Poor visibility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Status tracking + in-transit quantity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Human errors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Validation and DB constraints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No history of movement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Transaction history + audit log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Scattered data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One central MySQL database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 &amp; Scope</a:t>
            </a:r>
            <a:endParaRPr lang="en-US" sz="30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 1"/>
          <p:cNvSpPr/>
          <p:nvPr/>
        </p:nvSpPr>
        <p:spPr>
          <a:xfrm>
            <a:off x="566928" y="12070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64592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Central database of warehouses, products and stock</a:t>
            </a:r>
            <a:endParaRPr lang="en-US" sz="1200" dirty="0"/>
          </a:p>
        </p:txBody>
      </p:sp>
      <p:sp>
        <p:nvSpPr>
          <p:cNvPr id="8" name="objective card 2"/>
          <p:cNvSpPr/>
          <p:nvPr/>
        </p:nvSpPr>
        <p:spPr>
          <a:xfrm>
            <a:off x="2560320" y="109728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2670048" y="12070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004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670048" y="164592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 transfer requests between warehouses</a:t>
            </a:r>
            <a:endParaRPr lang="en-US" sz="1200" dirty="0"/>
          </a:p>
        </p:txBody>
      </p:sp>
      <p:sp>
        <p:nvSpPr>
          <p:cNvPr id="12" name="objective card 3"/>
          <p:cNvSpPr/>
          <p:nvPr/>
        </p:nvSpPr>
        <p:spPr>
          <a:xfrm>
            <a:off x="4663440" y="109728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 3"/>
          <p:cNvSpPr/>
          <p:nvPr/>
        </p:nvSpPr>
        <p:spPr>
          <a:xfrm>
            <a:off x="4773168" y="12070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773168" y="164592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 stock before a transfer is accepted</a:t>
            </a:r>
            <a:endParaRPr lang="en-US" sz="1200" dirty="0"/>
          </a:p>
        </p:txBody>
      </p:sp>
      <p:sp>
        <p:nvSpPr>
          <p:cNvPr id="16" name="objective card 4"/>
          <p:cNvSpPr/>
          <p:nvPr/>
        </p:nvSpPr>
        <p:spPr>
          <a:xfrm>
            <a:off x="6766560" y="109728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 4"/>
          <p:cNvSpPr/>
          <p:nvPr/>
        </p:nvSpPr>
        <p:spPr>
          <a:xfrm>
            <a:off x="6876288" y="12070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628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164592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 / reject step for authorised managers</a:t>
            </a:r>
            <a:endParaRPr lang="en-US" sz="1200" dirty="0"/>
          </a:p>
        </p:txBody>
      </p:sp>
      <p:sp>
        <p:nvSpPr>
          <p:cNvPr id="20" name="objective card 5"/>
          <p:cNvSpPr/>
          <p:nvPr/>
        </p:nvSpPr>
        <p:spPr>
          <a:xfrm>
            <a:off x="457200" y="237744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 5"/>
          <p:cNvSpPr/>
          <p:nvPr/>
        </p:nvSpPr>
        <p:spPr>
          <a:xfrm>
            <a:off x="566928" y="2487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92608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Track status: Pending, Approved, In Transit, Received</a:t>
            </a:r>
            <a:endParaRPr lang="en-US" sz="1200" dirty="0"/>
          </a:p>
        </p:txBody>
      </p:sp>
      <p:sp>
        <p:nvSpPr>
          <p:cNvPr id="24" name="objective card 6"/>
          <p:cNvSpPr/>
          <p:nvPr/>
        </p:nvSpPr>
        <p:spPr>
          <a:xfrm>
            <a:off x="2560320" y="237744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 6"/>
          <p:cNvSpPr/>
          <p:nvPr/>
        </p:nvSpPr>
        <p:spPr>
          <a:xfrm>
            <a:off x="2670048" y="2487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7004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2670048" y="292608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Update source and destination stock safely using transactions</a:t>
            </a:r>
            <a:endParaRPr lang="en-US" sz="1200" dirty="0"/>
          </a:p>
        </p:txBody>
      </p:sp>
      <p:sp>
        <p:nvSpPr>
          <p:cNvPr id="28" name="objective card 7"/>
          <p:cNvSpPr/>
          <p:nvPr/>
        </p:nvSpPr>
        <p:spPr>
          <a:xfrm>
            <a:off x="4663440" y="237744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 7"/>
          <p:cNvSpPr/>
          <p:nvPr/>
        </p:nvSpPr>
        <p:spPr>
          <a:xfrm>
            <a:off x="4773168" y="2487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7316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73168" y="292608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full transaction history and audit log</a:t>
            </a:r>
            <a:endParaRPr lang="en-US" sz="1200" dirty="0"/>
          </a:p>
        </p:txBody>
      </p:sp>
      <p:sp>
        <p:nvSpPr>
          <p:cNvPr id="32" name="objective card 8"/>
          <p:cNvSpPr/>
          <p:nvPr/>
        </p:nvSpPr>
        <p:spPr>
          <a:xfrm>
            <a:off x="6766560" y="237744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 8"/>
          <p:cNvSpPr/>
          <p:nvPr/>
        </p:nvSpPr>
        <p:spPr>
          <a:xfrm>
            <a:off x="6876288" y="2487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7628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876288" y="292608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Dashboards and reports for decisions</a:t>
            </a:r>
            <a:endParaRPr lang="en-US" sz="1200" dirty="0"/>
          </a:p>
        </p:txBody>
      </p:sp>
      <p:sp>
        <p:nvSpPr>
          <p:cNvPr id="36" name="in scope"/>
          <p:cNvSpPr/>
          <p:nvPr/>
        </p:nvSpPr>
        <p:spPr>
          <a:xfrm>
            <a:off x="457200" y="3749040"/>
            <a:ext cx="457200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94360" y="3840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 scope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Login with roles, masters, stock per warehouse, transfer life cycle, history, search, dashboard, reports, audit logs</a:t>
            </a:r>
            <a:endParaRPr lang="en-US" sz="1200" dirty="0"/>
          </a:p>
        </p:txBody>
      </p:sp>
      <p:sp>
        <p:nvSpPr>
          <p:cNvPr id="38" name="out of scope"/>
          <p:cNvSpPr/>
          <p:nvPr/>
        </p:nvSpPr>
        <p:spPr>
          <a:xfrm>
            <a:off x="5212080" y="3749040"/>
            <a:ext cx="34747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4924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 of scope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Purchase orders, billing, barcode / RFID, forecasting, mobile app, ERP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 &amp; User Roles</a:t>
            </a:r>
            <a:endParaRPr lang="en-US" sz="3000" dirty="0"/>
          </a:p>
        </p:txBody>
      </p:sp>
      <p:sp>
        <p:nvSpPr>
          <p:cNvPr id="4" name="tier User"/>
          <p:cNvSpPr/>
          <p:nvPr/>
        </p:nvSpPr>
        <p:spPr>
          <a:xfrm>
            <a:off x="457200" y="1097280"/>
            <a:ext cx="1737360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Browser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40280" y="160020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ier Frontend"/>
          <p:cNvSpPr/>
          <p:nvPr/>
        </p:nvSpPr>
        <p:spPr>
          <a:xfrm>
            <a:off x="2624328" y="1097280"/>
            <a:ext cx="1737360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15768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HTML, CSS, JavaScript (fetch API)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07408" y="160020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ier Backend"/>
          <p:cNvSpPr/>
          <p:nvPr/>
        </p:nvSpPr>
        <p:spPr>
          <a:xfrm>
            <a:off x="4791456" y="1097280"/>
            <a:ext cx="1737360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82896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Python Flask: routes, roles, validation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74536" y="160020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ier Database"/>
          <p:cNvSpPr/>
          <p:nvPr/>
        </p:nvSpPr>
        <p:spPr>
          <a:xfrm>
            <a:off x="6958584" y="1097280"/>
            <a:ext cx="1737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50024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Database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MySQL 8.0, InnoDB, 10 tables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Role-based access control</a:t>
            </a:r>
            <a:endParaRPr lang="en-US" sz="1200" dirty="0"/>
          </a:p>
        </p:txBody>
      </p:sp>
      <p:sp>
        <p:nvSpPr>
          <p:cNvPr id="16" name="role Admin"/>
          <p:cNvSpPr/>
          <p:nvPr/>
        </p:nvSpPr>
        <p:spPr>
          <a:xfrm>
            <a:off x="457200" y="260604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ole dot"/>
          <p:cNvSpPr/>
          <p:nvPr/>
        </p:nvSpPr>
        <p:spPr>
          <a:xfrm>
            <a:off x="594360" y="2743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Manages users, warehouses, products; sees all reports and audit logs</a:t>
            </a:r>
            <a:endParaRPr lang="en-US" sz="1200" dirty="0"/>
          </a:p>
        </p:txBody>
      </p:sp>
      <p:sp>
        <p:nvSpPr>
          <p:cNvPr id="20" name="role Warehouse Manager"/>
          <p:cNvSpPr/>
          <p:nvPr/>
        </p:nvSpPr>
        <p:spPr>
          <a:xfrm>
            <a:off x="2560320" y="260604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ole dot"/>
          <p:cNvSpPr/>
          <p:nvPr/>
        </p:nvSpPr>
        <p:spPr>
          <a:xfrm>
            <a:off x="2697480" y="2743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9748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Warehouse Manager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Approves or rejects transfers; dispatches and receives stock</a:t>
            </a:r>
            <a:endParaRPr lang="en-US" sz="1200" dirty="0"/>
          </a:p>
        </p:txBody>
      </p:sp>
      <p:sp>
        <p:nvSpPr>
          <p:cNvPr id="24" name="role Inventory Staff"/>
          <p:cNvSpPr/>
          <p:nvPr/>
        </p:nvSpPr>
        <p:spPr>
          <a:xfrm>
            <a:off x="4663440" y="260604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role dot"/>
          <p:cNvSpPr/>
          <p:nvPr/>
        </p:nvSpPr>
        <p:spPr>
          <a:xfrm>
            <a:off x="4800600" y="2743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Inventory Staff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80060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Updates stock, creates transfer requests, dispatches and receives</a:t>
            </a:r>
            <a:endParaRPr lang="en-US" sz="1200" dirty="0"/>
          </a:p>
        </p:txBody>
      </p:sp>
      <p:sp>
        <p:nvSpPr>
          <p:cNvPr id="28" name="role Viewer"/>
          <p:cNvSpPr/>
          <p:nvPr/>
        </p:nvSpPr>
        <p:spPr>
          <a:xfrm>
            <a:off x="6766560" y="260604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ole dot"/>
          <p:cNvSpPr/>
          <p:nvPr/>
        </p:nvSpPr>
        <p:spPr>
          <a:xfrm>
            <a:off x="6903720" y="274320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0372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Viewer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Read-only view of stock, transfer status and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Stock Transfer Life Cycle</a:t>
            </a:r>
            <a:endParaRPr lang="en-US" sz="3000" dirty="0"/>
          </a:p>
        </p:txBody>
      </p:sp>
      <p:sp>
        <p:nvSpPr>
          <p:cNvPr id="4" name="state Pending"/>
          <p:cNvSpPr/>
          <p:nvPr/>
        </p:nvSpPr>
        <p:spPr>
          <a:xfrm>
            <a:off x="457200" y="1143000"/>
            <a:ext cx="1691640" cy="1325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34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Pending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Staff creates request; system validates stock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 stock change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94560" y="1801368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tate Approved"/>
          <p:cNvSpPr/>
          <p:nvPr/>
        </p:nvSpPr>
        <p:spPr>
          <a:xfrm>
            <a:off x="2633472" y="1143000"/>
            <a:ext cx="1691640" cy="1325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234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Approved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Manager approves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633472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 stock change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1801368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tate In Transit"/>
          <p:cNvSpPr/>
          <p:nvPr/>
        </p:nvSpPr>
        <p:spPr>
          <a:xfrm>
            <a:off x="4809744" y="1143000"/>
            <a:ext cx="1691640" cy="1325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19472" y="1234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In Transit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Source dispatches goods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809744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Source stock decreases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47104" y="1801368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tate Received"/>
          <p:cNvSpPr/>
          <p:nvPr/>
        </p:nvSpPr>
        <p:spPr>
          <a:xfrm>
            <a:off x="6986016" y="1143000"/>
            <a:ext cx="1691640" cy="1325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95744" y="1234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Received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Destination confirms receipt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986016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Destination stock increases</a:t>
            </a:r>
            <a:endParaRPr lang="en-US" sz="1200" dirty="0"/>
          </a:p>
        </p:txBody>
      </p:sp>
      <p:sp>
        <p:nvSpPr>
          <p:cNvPr id="19" name="branch card"/>
          <p:cNvSpPr/>
          <p:nvPr/>
        </p:nvSpPr>
        <p:spPr>
          <a:xfrm>
            <a:off x="457200" y="3108960"/>
            <a:ext cx="420624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Rejected / Cancelled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manager can reject a Pending request, or the requester can cancel it. No stock is touched.</a:t>
            </a:r>
            <a:endParaRPr lang="en-US" sz="1500" dirty="0"/>
          </a:p>
        </p:txBody>
      </p:sp>
      <p:sp>
        <p:nvSpPr>
          <p:cNvPr id="21" name="txn card"/>
          <p:cNvSpPr/>
          <p:nvPr/>
        </p:nvSpPr>
        <p:spPr>
          <a:xfrm>
            <a:off x="4846320" y="3108960"/>
            <a:ext cx="384048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Transaction safety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Dispatch and Receive each run in one DB transaction: stock and status change together (COMMIT / ROLLBACK).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Diagram</a:t>
            </a:r>
            <a:endParaRPr lang="en-US" sz="3000" dirty="0"/>
          </a:p>
        </p:txBody>
      </p:sp>
      <p:pic>
        <p:nvPicPr>
          <p:cNvPr id="4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888736" cy="3611880"/>
          </a:xfrm>
          <a:prstGeom prst="rect">
            <a:avLst/>
          </a:prstGeom>
        </p:spPr>
      </p:pic>
      <p:sp>
        <p:nvSpPr>
          <p:cNvPr id="5" name="er notes"/>
          <p:cNvSpPr/>
          <p:nvPr/>
        </p:nvSpPr>
        <p:spPr>
          <a:xfrm>
            <a:off x="6492240" y="1051560"/>
            <a:ext cx="219456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629400" y="1188720"/>
            <a:ext cx="1965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10 entities, crow's foot at the many side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Warehouse and Product are M:N, resolved by stock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Transfer and Product are M:N, resolved by transfer_items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Navy: masters. Teal: stock records. Red: transfers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Relational Schema: Master Tables</a:t>
            </a:r>
            <a:endParaRPr lang="en-US" sz="3000" dirty="0"/>
          </a:p>
        </p:txBody>
      </p:sp>
      <p:sp>
        <p:nvSpPr>
          <p:cNvPr id="4" name="table users"/>
          <p:cNvSpPr/>
          <p:nvPr/>
        </p:nvSpPr>
        <p:spPr>
          <a:xfrm>
            <a:off x="457200" y="1097280"/>
            <a:ext cx="192024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dr users"/>
          <p:cNvSpPr/>
          <p:nvPr/>
        </p:nvSpPr>
        <p:spPr>
          <a:xfrm>
            <a:off x="457200" y="1097280"/>
            <a:ext cx="19202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90472"/>
            <a:ext cx="17830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password_hash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full_name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email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is_active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created_at</a:t>
            </a:r>
            <a:endParaRPr lang="en-US" sz="1100" dirty="0"/>
          </a:p>
        </p:txBody>
      </p:sp>
      <p:sp>
        <p:nvSpPr>
          <p:cNvPr id="8" name="table warehouses"/>
          <p:cNvSpPr/>
          <p:nvPr/>
        </p:nvSpPr>
        <p:spPr>
          <a:xfrm>
            <a:off x="2560320" y="1097280"/>
            <a:ext cx="1920240" cy="1655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dr warehouses"/>
          <p:cNvSpPr/>
          <p:nvPr/>
        </p:nvSpPr>
        <p:spPr>
          <a:xfrm>
            <a:off x="2560320" y="1097280"/>
            <a:ext cx="19202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097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warehouses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1490472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warehouse_id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warehouse_code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warehouse_name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address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manager_id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is_active</a:t>
            </a:r>
            <a:endParaRPr lang="en-US" sz="1100" dirty="0"/>
          </a:p>
        </p:txBody>
      </p:sp>
      <p:sp>
        <p:nvSpPr>
          <p:cNvPr id="12" name="table categories"/>
          <p:cNvSpPr/>
          <p:nvPr/>
        </p:nvSpPr>
        <p:spPr>
          <a:xfrm>
            <a:off x="4663440" y="1097280"/>
            <a:ext cx="192024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dr categories"/>
          <p:cNvSpPr/>
          <p:nvPr/>
        </p:nvSpPr>
        <p:spPr>
          <a:xfrm>
            <a:off x="4663440" y="1097280"/>
            <a:ext cx="19202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1097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4904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category_id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category_name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6" name="table suppliers"/>
          <p:cNvSpPr/>
          <p:nvPr/>
        </p:nvSpPr>
        <p:spPr>
          <a:xfrm>
            <a:off x="4663440" y="2194560"/>
            <a:ext cx="1920240" cy="11338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hdr suppliers"/>
          <p:cNvSpPr/>
          <p:nvPr/>
        </p:nvSpPr>
        <p:spPr>
          <a:xfrm>
            <a:off x="4663440" y="2194560"/>
            <a:ext cx="19202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2194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suppliers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587752"/>
            <a:ext cx="1783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supplier_id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supplier_name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email</a:t>
            </a:r>
            <a:endParaRPr lang="en-US" sz="1100" dirty="0"/>
          </a:p>
        </p:txBody>
      </p:sp>
      <p:sp>
        <p:nvSpPr>
          <p:cNvPr id="20" name="table products"/>
          <p:cNvSpPr/>
          <p:nvPr/>
        </p:nvSpPr>
        <p:spPr>
          <a:xfrm>
            <a:off x="6766560" y="1097280"/>
            <a:ext cx="1920240" cy="1655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dr products"/>
          <p:cNvSpPr/>
          <p:nvPr/>
        </p:nvSpPr>
        <p:spPr>
          <a:xfrm>
            <a:off x="6766560" y="1097280"/>
            <a:ext cx="19202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1097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products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1490472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sku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category_id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supplier_id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reorder_level</a:t>
            </a:r>
            <a:endParaRPr lang="en-US" sz="1100" dirty="0"/>
          </a:p>
        </p:txBody>
      </p:sp>
      <p:sp>
        <p:nvSpPr>
          <p:cNvPr id="24" name="design notes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6118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Designed up to 3NF: category and supplier details live in their own tables, referenced by FK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Auto-increment INT primary keys; UNIQUE on username, email, warehouse_code, category_name, sku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1:N: one manager has many warehouses; one category / supplier has many products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Relational Schema: Stock &amp; Transfer Tables</a:t>
            </a:r>
            <a:endParaRPr lang="en-US" sz="3000" dirty="0"/>
          </a:p>
        </p:txBody>
      </p:sp>
      <p:sp>
        <p:nvSpPr>
          <p:cNvPr id="4" name="table stock_transfers"/>
          <p:cNvSpPr/>
          <p:nvPr/>
        </p:nvSpPr>
        <p:spPr>
          <a:xfrm>
            <a:off x="457200" y="1097280"/>
            <a:ext cx="2377440" cy="2871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dr stock_transfers"/>
          <p:cNvSpPr/>
          <p:nvPr/>
        </p:nvSpPr>
        <p:spPr>
          <a:xfrm>
            <a:off x="457200" y="1097280"/>
            <a:ext cx="2377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stock_transfers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90472"/>
            <a:ext cx="224028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transfer_id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transfer_code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source_warehouse_id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destination_warehouse_id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requested_by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approved_by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dispatched_by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received_by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request_date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approval_date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dispatch_date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received_date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remarks</a:t>
            </a:r>
            <a:endParaRPr lang="en-US" sz="1100" dirty="0"/>
          </a:p>
        </p:txBody>
      </p:sp>
      <p:sp>
        <p:nvSpPr>
          <p:cNvPr id="8" name="table stock_transactions"/>
          <p:cNvSpPr/>
          <p:nvPr/>
        </p:nvSpPr>
        <p:spPr>
          <a:xfrm>
            <a:off x="3017520" y="1097280"/>
            <a:ext cx="20116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dr stock_transactions"/>
          <p:cNvSpPr/>
          <p:nvPr/>
        </p:nvSpPr>
        <p:spPr>
          <a:xfrm>
            <a:off x="3017520" y="1097280"/>
            <a:ext cx="2011680" cy="329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08960" y="1097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stock_transactions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1490472"/>
            <a:ext cx="18745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transaction_id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warehouse_id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transfer_id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txn_type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quantity_change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created_by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created_at</a:t>
            </a:r>
            <a:endParaRPr lang="en-US" sz="1100" dirty="0"/>
          </a:p>
        </p:txBody>
      </p:sp>
      <p:sp>
        <p:nvSpPr>
          <p:cNvPr id="12" name="table stock"/>
          <p:cNvSpPr/>
          <p:nvPr/>
        </p:nvSpPr>
        <p:spPr>
          <a:xfrm>
            <a:off x="5212080" y="1097280"/>
            <a:ext cx="1828800" cy="13075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dr stock"/>
          <p:cNvSpPr/>
          <p:nvPr/>
        </p:nvSpPr>
        <p:spPr>
          <a:xfrm>
            <a:off x="5212080" y="1097280"/>
            <a:ext cx="1828800" cy="329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0" y="1097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14904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stock_id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warehouse_id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quantity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last_updated</a:t>
            </a:r>
            <a:endParaRPr lang="en-US" sz="1100" dirty="0"/>
          </a:p>
        </p:txBody>
      </p:sp>
      <p:sp>
        <p:nvSpPr>
          <p:cNvPr id="16" name="table transfer_items"/>
          <p:cNvSpPr/>
          <p:nvPr/>
        </p:nvSpPr>
        <p:spPr>
          <a:xfrm>
            <a:off x="5212080" y="2514600"/>
            <a:ext cx="1828800" cy="11338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hdr transfer_items"/>
          <p:cNvSpPr/>
          <p:nvPr/>
        </p:nvSpPr>
        <p:spPr>
          <a:xfrm>
            <a:off x="5212080" y="2514600"/>
            <a:ext cx="182880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25146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transfer_items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907792"/>
            <a:ext cx="1691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transfer_item_id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transfer_id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quantity</a:t>
            </a:r>
            <a:endParaRPr lang="en-US" sz="1100" dirty="0"/>
          </a:p>
        </p:txBody>
      </p:sp>
      <p:sp>
        <p:nvSpPr>
          <p:cNvPr id="20" name="table audit_logs"/>
          <p:cNvSpPr/>
          <p:nvPr/>
        </p:nvSpPr>
        <p:spPr>
          <a:xfrm>
            <a:off x="7223760" y="1097280"/>
            <a:ext cx="1463040" cy="1655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dr audit_logs"/>
          <p:cNvSpPr/>
          <p:nvPr/>
        </p:nvSpPr>
        <p:spPr>
          <a:xfrm>
            <a:off x="7223760" y="1097280"/>
            <a:ext cx="1463040" cy="3291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0" y="1097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audit_logs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1490472"/>
            <a:ext cx="1325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FK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entity_type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entity_id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details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created_at</a:t>
            </a:r>
            <a:endParaRPr lang="en-US" sz="1100" dirty="0"/>
          </a:p>
        </p:txBody>
      </p:sp>
      <p:sp>
        <p:nvSpPr>
          <p:cNvPr id="24" name="constraint notes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4133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UNIQUE(warehouse_id, product_id) on stock  |  UNIQUE(transfer_id, product_id) on transfer_items  |  CHECK quantity &gt;= 0, item quantity &gt; 0, source &lt;&gt; destination  |  ENUM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SQL: Database &amp; Table Creation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CREATE DATABASE + CREATE TABLE stock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457200" y="1298448"/>
            <a:ext cx="4937760" cy="32004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warehouse_transfer_db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CHARACTER SET utf8mb4;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warehouse_transfer_db;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stock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stock_id     INT AUTO_INCREMENT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warehouse_id INT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  INT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    INT NOT NULL DEFAULT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chk_stock_qty CHECK (quantity &gt;= 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uq_stock UNIQUE (warehouse_id, product_id),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fk_stock_wh FOREIGN KEY (warehouse_id)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warehouses(warehouse_id),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fk_stock_prod FOREIGN KEY (product_id)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products(product_id)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051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stock_transfers highlights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577840" y="1298448"/>
            <a:ext cx="3108960" cy="18288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ENUM('PENDING',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'APPROVED','REJECTED',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'IN_TRANSIT','RECEIVED',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'CANCELLED')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NULL DEFAULT 'PENDING',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(source_warehouse_id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&lt;&gt; destination_warehouse_id)</a:t>
            </a:r>
            <a:endParaRPr lang="en-US" sz="1000" dirty="0"/>
          </a:p>
        </p:txBody>
      </p:sp>
      <p:sp>
        <p:nvSpPr>
          <p:cNvPr id="8" name="ddl note"/>
          <p:cNvSpPr/>
          <p:nvPr/>
        </p:nvSpPr>
        <p:spPr>
          <a:xfrm>
            <a:off x="5577840" y="3291840"/>
            <a:ext cx="3108960" cy="12070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33832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 InnoDB tables created parent-first: users, warehouses, categories, suppliers, products, stock, stock_transfers, transfer_items, stock_transactions, audit_logs.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SQL: Joins, Aggregates &amp; Reports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Q2: Products in a warehouse (JOIN)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457200" y="1261872"/>
            <a:ext cx="4023360" cy="17830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p.sku, p.product_name,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c.category_name, s.quantity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stock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 ON p.product_id = s.product_id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c.category_id = p.category_id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s.warehouse_id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p.product_name;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Q7: Total stock by warehouse (GROUP BY)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4663440" y="1261872"/>
            <a:ext cx="4023360" cy="17830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w.warehouse_name,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COUNT(s.product_id) AS distinct_products,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COALESCE(SUM(s.quantity),0) AS total_units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warehouses 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stock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s.warehouse_id = w.warehouse_id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w.warehouse_id, w.warehouse_name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total_units DESC;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Q8: Low-stock products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457200" y="3438144"/>
            <a:ext cx="8229600" cy="10972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w.warehouse_name, p.product_name, s.quantity, p.reorder_level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stock s JOIN products p ON p.product_id = s.product_id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warehouses w ON w.warehouse_id = s.warehouse_id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s.quantity &lt;= p.reorder_level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s.quantity ASC;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SQL: Creating &amp; Viewing Transfers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241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Q3: Create a transfer request (with items)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457200" y="1261872"/>
            <a:ext cx="4846320" cy="19202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stock_transfers (transfer_code,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source_warehouse_id, destination_warehouse_id,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requested_by, remarks)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('TR-2025-0001', 1, 3, 3, 'Restock mouse');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@new_id = LAST_INSERT_ID();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transfer_items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(transfer_id, product_id, quantity)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(@new_id, 2, 80), (@new_id, 3, 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024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Q1: Availability check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486400" y="1261872"/>
            <a:ext cx="3200400" cy="10058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quantity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warehouse_id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product_id = 2;</a:t>
            </a:r>
            <a:endParaRPr lang="en-US" sz="1000" dirty="0"/>
          </a:p>
        </p:txBody>
      </p:sp>
      <p:sp>
        <p:nvSpPr>
          <p:cNvPr id="8" name="q1 note"/>
          <p:cNvSpPr/>
          <p:nvPr/>
        </p:nvSpPr>
        <p:spPr>
          <a:xfrm>
            <a:off x="5486400" y="2377440"/>
            <a:ext cx="3200400" cy="8046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96128" y="245059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 exceeds stock: "Insufficient stock", nothing saved.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10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Q4: Pending transfers (manager queue)</a:t>
            </a:r>
            <a:endParaRPr lang="en-US" sz="1200" dirty="0"/>
          </a:p>
        </p:txBody>
      </p:sp>
      <p:sp>
        <p:nvSpPr>
          <p:cNvPr id="11" name="code"/>
          <p:cNvSpPr txBox="1"/>
          <p:nvPr/>
        </p:nvSpPr>
        <p:spPr>
          <a:xfrm>
            <a:off x="457200" y="3547872"/>
            <a:ext cx="8229600" cy="105156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t.transfer_code, sw.warehouse_name AS from_wh,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dw.warehouse_name AS to_wh, t.request_date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stock_transfers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warehouses sw ON sw.warehouse_id = t.source_warehouse_id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warehouses dw ON dw.warehouse_id = t.destination_warehouse_id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t.status = 'PENDING' ORDER BY t.request_date;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SQL: Dispatch &amp; Receive Transactions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Dispatch: stock leaves the source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457200" y="1261872"/>
            <a:ext cx="4069080" cy="2697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 FROM stock_transfers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transfer_id = 1 FOR UPDATE;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stock SET quantity = quantity - 80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warehouse_id = 1 AND product_id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quantity &gt;= 80;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stock_transactions (product_id,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warehouse_id, transfer_id, txn_type,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quantity_change, created_by)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1, 1, 'TRANSFER_OUT', -80, 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stock_transfers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status = 'IN_TRANSIT', dispatched_by =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dispatch_date = NOW()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transfer_id = 1 AND status = 'APPROVED';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61772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Receive: stock enters the destination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4617720" y="1261872"/>
            <a:ext cx="4069080" cy="2697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(warehouse_id, product_id, quantity)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(3, 2, 80)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= quantity + VALUES(quantity);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stock_transactions (product_id,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warehouse_id, transfer_id, txn_type,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quantity_change, created_by)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3, 1, 'TRANSFER_IN', 80, 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stock_transfers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status = 'RECEIVED', received_by =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received_date = NOW()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transfer_id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status = 'IN_TRANSIT';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on any error: ROLLBACK</a:t>
            </a:r>
            <a:endParaRPr lang="en-US" sz="1000" dirty="0"/>
          </a:p>
        </p:txBody>
      </p:sp>
      <p:sp>
        <p:nvSpPr>
          <p:cNvPr id="8" name="txn why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Why transactions? Stock is never deducted without being added (or the reverse): every step succeeds together or nothing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UI: Inventory Dashboard</a:t>
            </a:r>
            <a:endParaRPr lang="en-US" sz="3000" dirty="0"/>
          </a:p>
        </p:txBody>
      </p:sp>
      <p:pic>
        <p:nvPicPr>
          <p:cNvPr id="20" name="Dashboard screenshot" descr="Dashboard screensh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268375"/>
            <a:ext cx="5400000" cy="296325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6100000" y="1100000"/>
            <a:ext cx="2590000" cy="3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>
                <a:solidFill>
                  <a:schemeClr val="tx2"/>
                </a:solidFill>
              </a:rPr>
              <a:t>Dashboard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Live summary cards: 4 warehouses, 4 products, 1,270 total units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Inventory value of ₹3,79,850 from aggregate queries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Stock health donut: 82% healthy, 12% low, 6% critical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Weekly inventory movement chart and active-transfer count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Connected to the MySQL database warehouse_management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UI: Warehouse &amp; Product Management</a:t>
            </a:r>
            <a:endParaRPr lang="en-US" sz="3000" dirty="0"/>
          </a:p>
        </p:txBody>
      </p:sp>
      <p:pic>
        <p:nvPicPr>
          <p:cNvPr id="20" name="Warehouses screenshot" descr="Warehouses screensh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340139"/>
            <a:ext cx="3931919" cy="1983162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1" name="Products screenshot" descr="Products screensho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1350610"/>
            <a:ext cx="3931920" cy="196222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22" name="Caption 22"/>
          <p:cNvSpPr txBox="1"/>
          <p:nvPr/>
        </p:nvSpPr>
        <p:spPr>
          <a:xfrm>
            <a:off x="457200" y="3703320"/>
            <a:ext cx="393192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>
                <a:solidFill>
                  <a:schemeClr val="tx2"/>
                </a:solidFill>
              </a:rPr>
              <a:t>Warehouse management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Add warehouse with name, location and capacity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Warehouse list: Central (Hyderabad), North Hub (Delhi), South Depot (Chennai), northwest (Goa)</a:t>
            </a:r>
          </a:p>
        </p:txBody>
      </p:sp>
      <p:sp>
        <p:nvSpPr>
          <p:cNvPr id="23" name="Caption 23"/>
          <p:cNvSpPr txBox="1"/>
          <p:nvPr/>
        </p:nvSpPr>
        <p:spPr>
          <a:xfrm>
            <a:off x="4754880" y="3703320"/>
            <a:ext cx="393192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>
                <a:solidFill>
                  <a:schemeClr val="tx2"/>
                </a:solidFill>
              </a:rPr>
              <a:t>Product management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Add product with SKU, name, category and unit price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Catalogue of 4 products: packaging, electronics and safety items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UI: Stock Transfers</a:t>
            </a:r>
            <a:endParaRPr lang="en-US" sz="3000" dirty="0"/>
          </a:p>
        </p:txBody>
      </p:sp>
      <p:pic>
        <p:nvPicPr>
          <p:cNvPr id="20" name="Stock transfers screenshot" descr="Stock transfers screensh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514750"/>
            <a:ext cx="5400000" cy="24705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6100000" y="1100000"/>
            <a:ext cx="2590000" cy="3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>
                <a:solidFill>
                  <a:schemeClr val="tx2"/>
                </a:solidFill>
              </a:rPr>
              <a:t>Create stock transfer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Enter source warehouse, destination warehouse, product and quantity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Example: Warehouse 1 to Warehouse 2, Product 1, 50 units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Transfer History table lists ID, from, to, date and status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</a:rPr>
              <a:t>Empty at first (0 transfers) until a transfer is created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Results: Sample Transfer &amp; Test Cases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TC08 Create transfer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Status PENDING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TC09 Insufficient stock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Error, nothing saved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TC16 Dispatch approved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Status IN_TRANSIT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TC17 Source stock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Delhi mouse 200 to 120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TC19 Destination stock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Bengaluru mouse 18 to 98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TC20 Receive twice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Error, stock not added again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TC24 Viewer approves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Access denied (HTTP 403)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84632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 test cases in total (Table 9.1)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Security, Advantages &amp; Limitations</a:t>
            </a:r>
            <a:endParaRPr lang="en-US" sz="3000" dirty="0"/>
          </a:p>
        </p:txBody>
      </p:sp>
      <p:sp>
        <p:nvSpPr>
          <p:cNvPr id="4" name="Security card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ecurity header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Security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Salted password hashes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Role-based access on every route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Parameterised queries stop SQL injection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Constraints and transactions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Audit logs and stock history</a:t>
            </a:r>
            <a:endParaRPr lang="en-US" sz="1300" dirty="0"/>
          </a:p>
        </p:txBody>
      </p:sp>
      <p:sp>
        <p:nvSpPr>
          <p:cNvPr id="8" name="Advantages card"/>
          <p:cNvSpPr/>
          <p:nvPr/>
        </p:nvSpPr>
        <p:spPr>
          <a:xfrm>
            <a:off x="3246120" y="1097280"/>
            <a:ext cx="26517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dvantages header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Centralised inventory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Real-time stock visibility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Automated transfer tracking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Fewer manual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 straight from SQL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Scalable normalised design</a:t>
            </a:r>
            <a:endParaRPr lang="en-US" sz="1300" dirty="0"/>
          </a:p>
        </p:txBody>
      </p:sp>
      <p:sp>
        <p:nvSpPr>
          <p:cNvPr id="12" name="Limitations card"/>
          <p:cNvSpPr/>
          <p:nvPr/>
        </p:nvSpPr>
        <p:spPr>
          <a:xfrm>
            <a:off x="6035040" y="1097280"/>
            <a:ext cx="26517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imitations header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Needs network access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Relies on correct manual entry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barcode / RFID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forecasting or auto-reorder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partial receipt or damage handling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Conclusion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MySQL database gives every user the same, current stock view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Request, approval, dispatch and receipt keep every transfer controlled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Transactions keep source and destination stock consistent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3NF design, constraints and audit logs improve accuracy and transparency</a:t>
            </a:r>
            <a:endParaRPr lang="en-US" sz="1800" dirty="0"/>
          </a:p>
        </p:txBody>
      </p:sp>
      <p:sp>
        <p:nvSpPr>
          <p:cNvPr id="5" name="future card"/>
          <p:cNvSpPr/>
          <p:nvPr/>
        </p:nvSpPr>
        <p:spPr>
          <a:xfrm>
            <a:off x="4754880" y="1097280"/>
            <a:ext cx="3931920" cy="3017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2344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Future enhancements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Barcode, QR and RFID scanning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Mobile app for warehouse staff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Demand forecasting and reorder alerts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Email / SMS notifications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Partial receipt and damage handling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Cloud deployment and ERP integration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ehouseDBMS">
  <a:themeElements>
    <a:clrScheme name="WarehouseDBMS">
      <a:dk1>
        <a:srgbClr val="1F2933"/>
      </a:dk1>
      <a:lt1>
        <a:srgbClr val="FFFFFF"/>
      </a:lt1>
      <a:dk2>
        <a:srgbClr val="14213D"/>
      </a:dk2>
      <a:lt2>
        <a:srgbClr val="F1F4F8"/>
      </a:lt2>
      <a:accent1>
        <a:srgbClr val="E4405F"/>
      </a:accent1>
      <a:accent2>
        <a:srgbClr val="2A9D8F"/>
      </a:accent2>
      <a:accent3>
        <a:srgbClr val="F4A261"/>
      </a:accent3>
      <a:accent4>
        <a:srgbClr val="3D5A80"/>
      </a:accent4>
      <a:accent5>
        <a:srgbClr val="8D99AE"/>
      </a:accent5>
      <a:accent6>
        <a:srgbClr val="6A994E"/>
      </a:accent6>
      <a:hlink>
        <a:srgbClr val="3D5A80"/>
      </a:hlink>
      <a:folHlink>
        <a:srgbClr val="8D99AE"/>
      </a:folHlink>
    </a:clrScheme>
    <a:fontScheme name="WarehouseDB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Multi-Warehouse Stock Transfer Management System</dc:title>
  <dc:subject>PptxGenJS Presentation</dc:subject>
  <dc:creator>PptxGenJS</dc:creator>
  <cp:lastModifiedBy>PptxGenJS</cp:lastModifiedBy>
  <cp:revision>1</cp:revision>
  <dcterms:created xsi:type="dcterms:W3CDTF">2026-10-06T18:28:08Z</dcterms:created>
  <dcterms:modified xsi:type="dcterms:W3CDTF">2026-10-06T18:28:08Z</dcterms:modified>
</cp:coreProperties>
</file>